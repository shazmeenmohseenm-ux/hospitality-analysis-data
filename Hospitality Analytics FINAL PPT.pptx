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70" r:id="rId5"/>
    <p:sldId id="258" r:id="rId6"/>
    <p:sldId id="271" r:id="rId7"/>
    <p:sldId id="259" r:id="rId8"/>
    <p:sldId id="260" r:id="rId9"/>
    <p:sldId id="262" r:id="rId10"/>
    <p:sldId id="267" r:id="rId11"/>
    <p:sldId id="263" r:id="rId12"/>
    <p:sldId id="265" r:id="rId13"/>
    <p:sldId id="264" r:id="rId15"/>
    <p:sldId id="266" r:id="rId16"/>
    <p:sldId id="268" r:id="rId17"/>
    <p:sldId id="272" r:id="rId18"/>
    <p:sldId id="261" r:id="rId19"/>
    <p:sldId id="26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89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02E7BB4-8364-4090-AB3C-BE36CA98891C}"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063B2A7-544B-4612-9CD2-D72E552510B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063B2A7-544B-4612-9CD2-D72E552510B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E063B2A7-544B-4612-9CD2-D72E552510B9}"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63B2A7-544B-4612-9CD2-D72E552510B9}"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02E7BB4-8364-4090-AB3C-BE36CA98891C}"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63B2A7-544B-4612-9CD2-D72E552510B9}"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02E7BB4-8364-4090-AB3C-BE36CA98891C}"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063B2A7-544B-4612-9CD2-D72E552510B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02E7BB4-8364-4090-AB3C-BE36CA98891C}"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063B2A7-544B-4612-9CD2-D72E552510B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063B2A7-544B-4612-9CD2-D72E552510B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063B2A7-544B-4612-9CD2-D72E552510B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02E7BB4-8364-4090-AB3C-BE36CA98891C}" type="slidenum">
              <a:rPr lang="en-IN" smtClean="0"/>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E063B2A7-544B-4612-9CD2-D72E552510B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E063B2A7-544B-4612-9CD2-D72E552510B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endParaRPr lang="en-US"/>
          </a:p>
        </p:txBody>
      </p:sp>
      <p:sp>
        <p:nvSpPr>
          <p:cNvPr id="5" name="Date Placeholder 4"/>
          <p:cNvSpPr>
            <a:spLocks noGrp="1"/>
          </p:cNvSpPr>
          <p:nvPr>
            <p:ph type="dt" sz="half" idx="10"/>
          </p:nvPr>
        </p:nvSpPr>
        <p:spPr/>
        <p:txBody>
          <a:bodyPr/>
          <a:lstStyle/>
          <a:p>
            <a:fld id="{E063B2A7-544B-4612-9CD2-D72E552510B9}"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02E7BB4-8364-4090-AB3C-BE36CA98891C}"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02E7BB4-8364-4090-AB3C-BE36CA98891C}"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063B2A7-544B-4612-9CD2-D72E552510B9}"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02E7BB4-8364-4090-AB3C-BE36CA98891C}"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063B2A7-544B-4612-9CD2-D72E552510B9}" type="datetimeFigureOut">
              <a:rPr lang="en-IN" smtClean="0"/>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02E7BB4-8364-4090-AB3C-BE36CA98891C}"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75000">
              <a:srgbClr val="E7EED3">
                <a:alpha val="100000"/>
              </a:srgbClr>
            </a:gs>
            <a:gs pos="50000">
              <a:srgbClr val="EFF4E2">
                <a:alpha val="100000"/>
              </a:srgbClr>
            </a:gs>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70692" y="991803"/>
            <a:ext cx="10421308" cy="1806765"/>
          </a:xfrm>
        </p:spPr>
        <p:txBody>
          <a:bodyPr>
            <a:normAutofit/>
          </a:bodyPr>
          <a:lstStyle/>
          <a:p>
            <a:r>
              <a:rPr lang="en-US" b="1" dirty="0">
                <a:solidFill>
                  <a:schemeClr val="tx1"/>
                </a:solidFill>
              </a:rPr>
              <a:t>Hospitality Analytics</a:t>
            </a:r>
            <a:br>
              <a:rPr lang="en-US" b="1" dirty="0">
                <a:solidFill>
                  <a:schemeClr val="tx1"/>
                </a:solidFill>
              </a:rPr>
            </a:br>
            <a:r>
              <a:rPr lang="en-US" b="1" dirty="0">
                <a:solidFill>
                  <a:schemeClr val="tx1"/>
                </a:solidFill>
              </a:rPr>
              <a:t>         Project</a:t>
            </a:r>
            <a:endParaRPr lang="en-IN" b="1" dirty="0">
              <a:solidFill>
                <a:schemeClr val="tx1"/>
              </a:solidFill>
            </a:endParaRPr>
          </a:p>
        </p:txBody>
      </p:sp>
      <p:sp>
        <p:nvSpPr>
          <p:cNvPr id="3" name="Subtitle 2"/>
          <p:cNvSpPr>
            <a:spLocks noGrp="1"/>
          </p:cNvSpPr>
          <p:nvPr>
            <p:ph type="subTitle" idx="1"/>
          </p:nvPr>
        </p:nvSpPr>
        <p:spPr>
          <a:xfrm>
            <a:off x="8945696" y="3506119"/>
            <a:ext cx="3624550" cy="3167349"/>
          </a:xfrm>
        </p:spPr>
        <p:txBody>
          <a:bodyPr>
            <a:normAutofit fontScale="25000" lnSpcReduction="20000"/>
          </a:bodyPr>
          <a:lstStyle/>
          <a:p>
            <a:pPr algn="l"/>
            <a:r>
              <a:rPr lang="en-US" sz="14400" b="1" u="sng" dirty="0">
                <a:solidFill>
                  <a:schemeClr val="tx1"/>
                </a:solidFill>
              </a:rPr>
              <a:t>Group </a:t>
            </a:r>
            <a:r>
              <a:rPr lang="en-IN" altLang="en-US" sz="14400" b="1" u="sng" dirty="0">
                <a:solidFill>
                  <a:schemeClr val="tx1"/>
                </a:solidFill>
              </a:rPr>
              <a:t>3</a:t>
            </a:r>
            <a:endParaRPr lang="en-US" sz="14400" b="1" u="sng" dirty="0">
              <a:solidFill>
                <a:schemeClr val="tx1"/>
              </a:solidFill>
            </a:endParaRPr>
          </a:p>
          <a:p>
            <a:pPr algn="l"/>
            <a:r>
              <a:rPr lang="en-IN" sz="7200" dirty="0">
                <a:solidFill>
                  <a:schemeClr val="tx1"/>
                </a:solidFill>
                <a:latin typeface="Bahnschrift" panose="020B0502040204020203" pitchFamily="34" charset="0"/>
              </a:rPr>
              <a:t>Kishore Kumar Agidi</a:t>
            </a:r>
            <a:endParaRPr lang="en-IN" sz="7200" dirty="0">
              <a:solidFill>
                <a:schemeClr val="tx1"/>
              </a:solidFill>
              <a:latin typeface="Bahnschrift" panose="020B0502040204020203" pitchFamily="34" charset="0"/>
            </a:endParaRPr>
          </a:p>
          <a:p>
            <a:pPr algn="l"/>
            <a:r>
              <a:rPr lang="en-IN" sz="7200" dirty="0">
                <a:solidFill>
                  <a:schemeClr val="tx1"/>
                </a:solidFill>
                <a:latin typeface="Bahnschrift" panose="020B0502040204020203" pitchFamily="34" charset="0"/>
              </a:rPr>
              <a:t>Anju Vettathil</a:t>
            </a:r>
            <a:endParaRPr lang="en-IN" sz="7200" dirty="0">
              <a:solidFill>
                <a:schemeClr val="tx1"/>
              </a:solidFill>
              <a:latin typeface="Bahnschrift" panose="020B0502040204020203" pitchFamily="34" charset="0"/>
            </a:endParaRPr>
          </a:p>
          <a:p>
            <a:pPr algn="l"/>
            <a:r>
              <a:rPr lang="en-IN" sz="7200" dirty="0">
                <a:solidFill>
                  <a:schemeClr val="tx1"/>
                </a:solidFill>
                <a:latin typeface="Bahnschrift" panose="020B0502040204020203" pitchFamily="34" charset="0"/>
              </a:rPr>
              <a:t>Shazmeen Fathima</a:t>
            </a:r>
            <a:endParaRPr lang="en-IN" sz="7200" dirty="0">
              <a:solidFill>
                <a:schemeClr val="tx1"/>
              </a:solidFill>
              <a:latin typeface="Bahnschrift" panose="020B0502040204020203" pitchFamily="34" charset="0"/>
            </a:endParaRPr>
          </a:p>
          <a:p>
            <a:pPr algn="l"/>
            <a:r>
              <a:rPr lang="en-IN" sz="7200" dirty="0">
                <a:solidFill>
                  <a:schemeClr val="tx1"/>
                </a:solidFill>
                <a:latin typeface="Bahnschrift" panose="020B0502040204020203" pitchFamily="34" charset="0"/>
              </a:rPr>
              <a:t>P Vijay Kumar</a:t>
            </a:r>
            <a:endParaRPr lang="en-IN" sz="7200" dirty="0">
              <a:solidFill>
                <a:schemeClr val="tx1"/>
              </a:solidFill>
              <a:latin typeface="Bahnschrift" panose="020B0502040204020203" pitchFamily="34" charset="0"/>
            </a:endParaRPr>
          </a:p>
          <a:p>
            <a:pPr algn="l"/>
            <a:r>
              <a:rPr lang="en-IN" sz="7200" dirty="0">
                <a:solidFill>
                  <a:schemeClr val="tx1"/>
                </a:solidFill>
                <a:latin typeface="Bahnschrift" panose="020B0502040204020203" pitchFamily="34" charset="0"/>
              </a:rPr>
              <a:t>shalu Sharma</a:t>
            </a:r>
            <a:endParaRPr lang="en-IN" sz="7200" dirty="0">
              <a:solidFill>
                <a:schemeClr val="tx1"/>
              </a:solidFill>
              <a:latin typeface="Bahnschrift" panose="020B0502040204020203" pitchFamily="34" charset="0"/>
            </a:endParaRPr>
          </a:p>
          <a:p>
            <a:pPr algn="l"/>
            <a:r>
              <a:rPr lang="en-IN" sz="7200" dirty="0">
                <a:solidFill>
                  <a:schemeClr val="tx1"/>
                </a:solidFill>
                <a:latin typeface="Bahnschrift" panose="020B0502040204020203" pitchFamily="34" charset="0"/>
              </a:rPr>
              <a:t>Vishal Kanti Rajput</a:t>
            </a:r>
            <a:endParaRPr lang="en-IN" sz="7200" dirty="0">
              <a:solidFill>
                <a:schemeClr val="tx1"/>
              </a:solidFill>
              <a:latin typeface="Bahnschrift" panose="020B0502040204020203" pitchFamily="34" charset="0"/>
            </a:endParaRPr>
          </a:p>
          <a:p>
            <a:pPr algn="l"/>
            <a:r>
              <a:rPr lang="en-IN" sz="7200" dirty="0">
                <a:solidFill>
                  <a:schemeClr val="tx1"/>
                </a:solidFill>
                <a:latin typeface="Bahnschrift" panose="020B0502040204020203" pitchFamily="34" charset="0"/>
              </a:rPr>
              <a:t>Ponnam Manisha</a:t>
            </a:r>
            <a:endParaRPr lang="en-IN" sz="7200" dirty="0">
              <a:solidFill>
                <a:schemeClr val="tx1"/>
              </a:solidFill>
              <a:latin typeface="Bahnschrift" panose="020B0502040204020203" pitchFamily="34" charset="0"/>
            </a:endParaRPr>
          </a:p>
          <a:p>
            <a:pPr algn="l"/>
            <a:endParaRPr lang="en-IN" dirty="0"/>
          </a:p>
          <a:p>
            <a:pPr algn="l"/>
            <a:endParaRPr lang="en-IN" dirty="0"/>
          </a:p>
        </p:txBody>
      </p:sp>
      <p:pic>
        <p:nvPicPr>
          <p:cNvPr id="5" name="Graphic 4" descr="Group brainstorm with solid fill"/>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82775" y="3029585"/>
            <a:ext cx="5601970" cy="3103880"/>
          </a:xfrm>
          <a:prstGeom prst="rect">
            <a:avLst/>
          </a:prstGeom>
        </p:spPr>
      </p:pic>
      <p:pic>
        <p:nvPicPr>
          <p:cNvPr id="7" name="Graphic 6" descr="Schoolhouse with solid fill"/>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66078" y="914969"/>
            <a:ext cx="914400" cy="10683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endParaRPr lang="en-IN" b="1" dirty="0"/>
          </a:p>
        </p:txBody>
      </p:sp>
      <p:sp>
        <p:nvSpPr>
          <p:cNvPr id="3" name="Content Placeholder 2"/>
          <p:cNvSpPr>
            <a:spLocks noGrp="1"/>
          </p:cNvSpPr>
          <p:nvPr>
            <p:ph idx="1"/>
          </p:nvPr>
        </p:nvSpPr>
        <p:spPr>
          <a:xfrm>
            <a:off x="2115185" y="1344930"/>
            <a:ext cx="9389110" cy="4566285"/>
          </a:xfrm>
        </p:spPr>
        <p:txBody>
          <a:bodyPr>
            <a:normAutofit/>
          </a:bodyPr>
          <a:lstStyle/>
          <a:p>
            <a:r>
              <a:rPr lang="en-US" dirty="0">
                <a:latin typeface="Bahnschrift" panose="020B0502040204020203" pitchFamily="34" charset="0"/>
              </a:rPr>
              <a:t>Hospitality means the friendly and generous reception of guests, visitors, or strangers.</a:t>
            </a:r>
            <a:endParaRPr lang="en-US" dirty="0">
              <a:latin typeface="Bahnschrift" panose="020B0502040204020203" pitchFamily="34" charset="0"/>
            </a:endParaRPr>
          </a:p>
          <a:p>
            <a:r>
              <a:rPr lang="en-US" dirty="0">
                <a:latin typeface="Bahnschrift" panose="020B0502040204020203" pitchFamily="34" charset="0"/>
              </a:rPr>
              <a:t>It involves providing comfort, care, and services in industries like hotels, restaurants, and tourism.</a:t>
            </a:r>
            <a:endParaRPr lang="en-US" dirty="0">
              <a:latin typeface="Bahnschrift" panose="020B0502040204020203" pitchFamily="34" charset="0"/>
            </a:endParaRPr>
          </a:p>
          <a:p>
            <a:r>
              <a:rPr lang="en-US" dirty="0">
                <a:latin typeface="Bahnschrift" panose="020B0502040204020203" pitchFamily="34" charset="0"/>
              </a:rPr>
              <a:t>In business, hospitality focuses on creating positive guest experiences, improving satisfaction, and building long-term relationships.</a:t>
            </a:r>
            <a:endParaRPr lang="en-US" dirty="0">
              <a:latin typeface="Bahnschrift" panose="020B0502040204020203" pitchFamily="34" charset="0"/>
            </a:endParaRPr>
          </a:p>
          <a:p>
            <a:r>
              <a:rPr lang="en-IN" altLang="en-US" dirty="0">
                <a:latin typeface="Bahnschrift" panose="020B0502040204020203" pitchFamily="34" charset="0"/>
              </a:rPr>
              <a:t>m</a:t>
            </a:r>
            <a:r>
              <a:rPr lang="en-US" dirty="0">
                <a:latin typeface="Bahnschrift" panose="020B0502040204020203" pitchFamily="34" charset="0"/>
              </a:rPr>
              <a:t>It can refer to the personal act of a host welcoming someone to their home or, more broadly, to a commercial industry that provides services like food, drink, accommodation, and entertainment to paying customers</a:t>
            </a:r>
            <a:endParaRPr lang="en-IN" dirty="0">
              <a:latin typeface="Bahnschrift" panose="020B0502040204020203" pitchFamily="34" charset="0"/>
            </a:endParaRPr>
          </a:p>
        </p:txBody>
      </p:sp>
      <p:sp>
        <p:nvSpPr>
          <p:cNvPr id="4" name="Text Box 3"/>
          <p:cNvSpPr txBox="1"/>
          <p:nvPr/>
        </p:nvSpPr>
        <p:spPr>
          <a:xfrm>
            <a:off x="2399030" y="4591050"/>
            <a:ext cx="8240395" cy="2579370"/>
          </a:xfrm>
          <a:prstGeom prst="rect">
            <a:avLst/>
          </a:prstGeom>
          <a:noFill/>
        </p:spPr>
        <p:txBody>
          <a:bodyPr wrap="square" rtlCol="0">
            <a:noAutofit/>
          </a:bodyPr>
          <a:p>
            <a:pPr>
              <a:lnSpc>
                <a:spcPct val="150000"/>
              </a:lnSpc>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65960" y="267335"/>
            <a:ext cx="8911590" cy="779780"/>
          </a:xfrm>
        </p:spPr>
        <p:txBody>
          <a:bodyPr/>
          <a:p>
            <a:pPr marL="0" indent="0">
              <a:buFont typeface="Arial" panose="020B0604020202020204" pitchFamily="34" charset="0"/>
            </a:pPr>
            <a:r>
              <a:rPr lang="en-IN" altLang="en-US" b="1"/>
              <a:t>Project Overview </a:t>
            </a:r>
            <a:endParaRPr lang="en-IN" altLang="en-US" b="1"/>
          </a:p>
        </p:txBody>
      </p:sp>
      <p:sp>
        <p:nvSpPr>
          <p:cNvPr id="3" name="Content Placeholder 2"/>
          <p:cNvSpPr>
            <a:spLocks noGrp="1"/>
          </p:cNvSpPr>
          <p:nvPr>
            <p:ph idx="1"/>
          </p:nvPr>
        </p:nvSpPr>
        <p:spPr>
          <a:xfrm>
            <a:off x="1871345" y="1431290"/>
            <a:ext cx="9383395" cy="5866765"/>
          </a:xfrm>
        </p:spPr>
        <p:txBody>
          <a:bodyPr anchor="ctr" anchorCtr="0">
            <a:normAutofit fontScale="25000"/>
          </a:bodyPr>
          <a:p>
            <a:pPr algn="ctr"/>
            <a:endParaRPr lang="en-US" dirty="0">
              <a:latin typeface="Calibri" panose="020F0502020204030204" charset="0"/>
              <a:ea typeface="Calibri" panose="020F0502020204030204" charset="0"/>
              <a:cs typeface="Calibri" panose="020F0502020204030204" charset="0"/>
              <a:sym typeface="+mn-ea"/>
            </a:endParaRPr>
          </a:p>
          <a:p>
            <a:pPr lvl="0" algn="l">
              <a:lnSpc>
                <a:spcPct val="150000"/>
              </a:lnSpc>
            </a:pPr>
            <a:r>
              <a:rPr lang="en-IN" altLang="en-US" sz="8000" dirty="0" err="1">
                <a:uFillTx/>
                <a:latin typeface="Arial" panose="020B0604020202020204" pitchFamily="34" charset="0"/>
                <a:ea typeface="Calibri" panose="020F0502020204030204" charset="0"/>
                <a:cs typeface="Arial" panose="020B0604020202020204" pitchFamily="34" charset="0"/>
                <a:sym typeface="+mn-ea"/>
              </a:rPr>
              <a:t>The Project focuses on analyzing the performance of “atliq hoispitality”, a leading hotel chain aiming to improve it’s occupancy rate , revenue and customer satisfaction. The client’s data was sacttered across multiple systems including booking,customer and property datasets which made it difficult to track performance and make data driven decisions.</a:t>
            </a:r>
            <a:endParaRPr lang="en-IN" altLang="en-US" sz="8000" dirty="0" err="1">
              <a:uFillTx/>
              <a:latin typeface="Arial" panose="020B0604020202020204" pitchFamily="34" charset="0"/>
              <a:ea typeface="Calibri" panose="020F0502020204030204" charset="0"/>
              <a:cs typeface="Arial" panose="020B0604020202020204" pitchFamily="34" charset="0"/>
              <a:sym typeface="+mn-ea"/>
            </a:endParaRPr>
          </a:p>
          <a:p>
            <a:pPr lvl="0" algn="l">
              <a:lnSpc>
                <a:spcPct val="150000"/>
              </a:lnSpc>
            </a:pPr>
            <a:r>
              <a:rPr lang="en-IN" altLang="en-US" sz="8000">
                <a:uFillTx/>
                <a:latin typeface="Arial" panose="020B0604020202020204" pitchFamily="34" charset="0"/>
                <a:cs typeface="Arial" panose="020B0604020202020204" pitchFamily="34" charset="0"/>
                <a:sym typeface="+mn-ea"/>
              </a:rPr>
              <a:t>As a Data Analyst, the goal was to design and build interactive   dashboards       using Excel,Tableau and Power BI to provide unified insights into the company’s operations.The dashboards help the management team monitor KPI’S, identify under-performing properties, and support strategic decisions such as pricing optimization and revenue forecasting.</a:t>
            </a:r>
            <a:endParaRPr lang="en-IN" altLang="en-US" sz="8000">
              <a:uFillTx/>
              <a:latin typeface="Arial" panose="020B0604020202020204" pitchFamily="34" charset="0"/>
              <a:cs typeface="Arial" panose="020B0604020202020204" pitchFamily="34" charset="0"/>
            </a:endParaRPr>
          </a:p>
          <a:p>
            <a:pPr marL="0" indent="0" algn="ctr">
              <a:lnSpc>
                <a:spcPct val="150000"/>
              </a:lnSpc>
              <a:buNone/>
            </a:pPr>
            <a:r>
              <a:rPr lang="en-IN" altLang="en-US" sz="8000" dirty="0" err="1">
                <a:uFillTx/>
                <a:latin typeface="Arial" panose="020B0604020202020204" pitchFamily="34" charset="0"/>
                <a:ea typeface="Calibri" panose="020F0502020204030204" charset="0"/>
                <a:cs typeface="Arial" panose="020B0604020202020204" pitchFamily="34" charset="0"/>
                <a:sym typeface="+mn-ea"/>
              </a:rPr>
              <a:t> </a:t>
            </a:r>
            <a:endParaRPr lang="en-US" sz="8000" dirty="0">
              <a:latin typeface="Arial" panose="020B0604020202020204" pitchFamily="34" charset="0"/>
              <a:ea typeface="Calibri" panose="020F0502020204030204" charset="0"/>
              <a:cs typeface="Arial" panose="020B0604020202020204" pitchFamily="34" charset="0"/>
              <a:sym typeface="+mn-ea"/>
            </a:endParaRPr>
          </a:p>
          <a:p>
            <a:pPr marL="0" indent="0" algn="l">
              <a:lnSpc>
                <a:spcPct val="150000"/>
              </a:lnSpc>
              <a:buNone/>
            </a:pPr>
            <a:r>
              <a:rPr lang="en-IN" altLang="en-US" sz="8000">
                <a:uFillTx/>
                <a:latin typeface="Arial" panose="020B0604020202020204" pitchFamily="34" charset="0"/>
                <a:cs typeface="Arial" panose="020B0604020202020204" pitchFamily="34" charset="0"/>
                <a:sym typeface="+mn-ea"/>
              </a:rPr>
              <a:t> </a:t>
            </a:r>
            <a:endParaRPr lang="en-IN" altLang="en-US" sz="8000" dirty="0" err="1">
              <a:uFillTx/>
              <a:latin typeface="Arial" panose="020B0604020202020204" pitchFamily="34" charset="0"/>
              <a:ea typeface="Calibri" panose="020F0502020204030204" charset="0"/>
              <a:cs typeface="Arial" panose="020B0604020202020204" pitchFamily="34" charset="0"/>
              <a:sym typeface="+mn-ea"/>
            </a:endParaRPr>
          </a:p>
          <a:p>
            <a:pPr marL="0" indent="0" algn="ctr">
              <a:lnSpc>
                <a:spcPct val="150000"/>
              </a:lnSpc>
              <a:buNone/>
            </a:pPr>
            <a:endParaRPr lang="en-IN" altLang="en-US" sz="8000" dirty="0" err="1">
              <a:uFillTx/>
              <a:latin typeface="Arial" panose="020B0604020202020204" pitchFamily="34" charset="0"/>
              <a:ea typeface="Calibri" panose="020F0502020204030204" charset="0"/>
              <a:cs typeface="Arial" panose="020B0604020202020204" pitchFamily="34" charset="0"/>
              <a:sym typeface="+mn-ea"/>
            </a:endParaRPr>
          </a:p>
        </p:txBody>
      </p:sp>
      <p:sp>
        <p:nvSpPr>
          <p:cNvPr id="6" name="Text Box 5"/>
          <p:cNvSpPr txBox="1"/>
          <p:nvPr/>
        </p:nvSpPr>
        <p:spPr>
          <a:xfrm>
            <a:off x="74930" y="752475"/>
            <a:ext cx="1199515" cy="435610"/>
          </a:xfrm>
          <a:prstGeom prst="rect">
            <a:avLst/>
          </a:prstGeom>
          <a:noFill/>
        </p:spPr>
        <p:txBody>
          <a:bodyPr wrap="square" rtlCol="0">
            <a:noAutofit/>
          </a:bodyPr>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endParaRPr lang="en-US" b="1" dirty="0"/>
          </a:p>
        </p:txBody>
      </p:sp>
      <p:sp>
        <p:nvSpPr>
          <p:cNvPr id="3" name="Content Placeholder 2"/>
          <p:cNvSpPr>
            <a:spLocks noGrp="1"/>
          </p:cNvSpPr>
          <p:nvPr>
            <p:ph idx="1"/>
          </p:nvPr>
        </p:nvSpPr>
        <p:spPr>
          <a:xfrm>
            <a:off x="2588895" y="1475105"/>
            <a:ext cx="8915400" cy="5167630"/>
          </a:xfrm>
        </p:spPr>
        <p:txBody>
          <a:bodyPr>
            <a:normAutofit lnSpcReduction="10000"/>
          </a:bodyPr>
          <a:lstStyle/>
          <a:p>
            <a:r>
              <a:rPr lang="en-US" dirty="0">
                <a:latin typeface="Bahnschrift" panose="020B0502040204020203" pitchFamily="34" charset="0"/>
              </a:rPr>
              <a:t>Understand and analyze hospitality industry data</a:t>
            </a:r>
            <a:endParaRPr lang="en-US" dirty="0">
              <a:latin typeface="Bahnschrift" panose="020B0502040204020203" pitchFamily="34" charset="0"/>
            </a:endParaRPr>
          </a:p>
          <a:p>
            <a:r>
              <a:rPr lang="en-IN" altLang="en-US" dirty="0">
                <a:latin typeface="Bahnschrift" panose="020B0502040204020203" pitchFamily="34" charset="0"/>
              </a:rPr>
              <a:t>develop an integrated analytical solution to track and monitor hotel performance metrics.</a:t>
            </a:r>
            <a:endParaRPr lang="en-US" dirty="0">
              <a:latin typeface="Bahnschrift" panose="020B0502040204020203" pitchFamily="34" charset="0"/>
            </a:endParaRPr>
          </a:p>
          <a:p>
            <a:r>
              <a:rPr lang="en-US" dirty="0">
                <a:latin typeface="Bahnschrift" panose="020B0502040204020203" pitchFamily="34" charset="0"/>
              </a:rPr>
              <a:t>Build dashboards </a:t>
            </a:r>
            <a:r>
              <a:rPr lang="en-IN" altLang="en-US" dirty="0">
                <a:latin typeface="Bahnschrift" panose="020B0502040204020203" pitchFamily="34" charset="0"/>
              </a:rPr>
              <a:t>that provide insights into :</a:t>
            </a:r>
            <a:endParaRPr lang="en-IN" altLang="en-US" dirty="0">
              <a:latin typeface="Bahnschrift" panose="020B0502040204020203" pitchFamily="34" charset="0"/>
            </a:endParaRPr>
          </a:p>
          <a:p>
            <a:pPr marL="0" indent="0">
              <a:buNone/>
            </a:pPr>
            <a:r>
              <a:rPr lang="en-IN" altLang="en-US" dirty="0">
                <a:latin typeface="Bahnschrift" panose="020B0502040204020203" pitchFamily="34" charset="0"/>
              </a:rPr>
              <a:t>      Revenue Performance</a:t>
            </a:r>
            <a:endParaRPr lang="en-IN" altLang="en-US" dirty="0">
              <a:latin typeface="Bahnschrift" panose="020B0502040204020203" pitchFamily="34" charset="0"/>
            </a:endParaRPr>
          </a:p>
          <a:p>
            <a:pPr marL="0" indent="0">
              <a:buNone/>
            </a:pPr>
            <a:r>
              <a:rPr lang="en-IN" altLang="en-US" dirty="0">
                <a:latin typeface="Bahnschrift" panose="020B0502040204020203" pitchFamily="34" charset="0"/>
              </a:rPr>
              <a:t>      Occupancy Rates</a:t>
            </a:r>
            <a:endParaRPr lang="en-IN" altLang="en-US" dirty="0">
              <a:latin typeface="Bahnschrift" panose="020B0502040204020203" pitchFamily="34" charset="0"/>
            </a:endParaRPr>
          </a:p>
          <a:p>
            <a:pPr marL="0" indent="0">
              <a:buNone/>
            </a:pPr>
            <a:r>
              <a:rPr lang="en-IN" altLang="en-US" dirty="0">
                <a:latin typeface="Bahnschrift" panose="020B0502040204020203" pitchFamily="34" charset="0"/>
              </a:rPr>
              <a:t>      Booking and cancellation trends</a:t>
            </a:r>
            <a:endParaRPr lang="en-IN" altLang="en-US" dirty="0">
              <a:latin typeface="Bahnschrift" panose="020B0502040204020203" pitchFamily="34" charset="0"/>
            </a:endParaRPr>
          </a:p>
          <a:p>
            <a:pPr marL="0" indent="0">
              <a:buNone/>
            </a:pPr>
            <a:r>
              <a:rPr lang="en-IN" altLang="en-US" dirty="0">
                <a:latin typeface="Bahnschrift" panose="020B0502040204020203" pitchFamily="34" charset="0"/>
              </a:rPr>
              <a:t>      City and Property level performance</a:t>
            </a:r>
            <a:endParaRPr lang="en-IN" altLang="en-US" dirty="0">
              <a:latin typeface="Bahnschrift" panose="020B0502040204020203" pitchFamily="34" charset="0"/>
            </a:endParaRPr>
          </a:p>
          <a:p>
            <a:r>
              <a:rPr lang="en-US" dirty="0">
                <a:latin typeface="Bahnschrift" panose="020B0502040204020203" pitchFamily="34" charset="0"/>
              </a:rPr>
              <a:t>Identify patterns and KPIs for decision-making</a:t>
            </a:r>
            <a:endParaRPr lang="en-US" dirty="0">
              <a:latin typeface="Bahnschrift" panose="020B0502040204020203" pitchFamily="34" charset="0"/>
            </a:endParaRPr>
          </a:p>
          <a:p>
            <a:r>
              <a:rPr lang="en-US" dirty="0">
                <a:latin typeface="Bahnschrift" panose="020B0502040204020203" pitchFamily="34" charset="0"/>
              </a:rPr>
              <a:t>Provide insights for improving occupancy and revenue</a:t>
            </a:r>
            <a:endParaRPr lang="en-US" dirty="0">
              <a:latin typeface="Bahnschrift" panose="020B0502040204020203" pitchFamily="34" charset="0"/>
            </a:endParaRPr>
          </a:p>
          <a:p>
            <a:r>
              <a:rPr lang="en-US" dirty="0">
                <a:latin typeface="Bahnschrift" panose="020B0502040204020203" pitchFamily="34" charset="0"/>
              </a:rPr>
              <a:t>Develop recommendations for data-driven hospitality management</a:t>
            </a:r>
            <a:endParaRPr lang="en-US" dirty="0">
              <a:latin typeface="Bahnschrift" panose="020B0502040204020203" pitchFamily="34" charset="0"/>
            </a:endParaRPr>
          </a:p>
          <a:p>
            <a:endParaRPr lang="en-US" dirty="0">
              <a:latin typeface="Bahnschrift" panose="020B0502040204020203" pitchFamily="34" charset="0"/>
            </a:endParaRPr>
          </a:p>
          <a:p>
            <a:endParaRPr lang="en-US" dirty="0"/>
          </a:p>
          <a:p>
            <a:endParaRPr lang="en-US" dirty="0"/>
          </a:p>
          <a:p>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51685" y="603250"/>
            <a:ext cx="8911590" cy="782955"/>
          </a:xfrm>
        </p:spPr>
        <p:txBody>
          <a:bodyPr/>
          <a:p>
            <a:r>
              <a:rPr lang="en-IN" altLang="en-US" sz="4400" b="1">
                <a:solidFill>
                  <a:schemeClr val="tx1">
                    <a:lumMod val="85000"/>
                    <a:lumOff val="15000"/>
                  </a:schemeClr>
                </a:solidFill>
                <a:uFillTx/>
              </a:rPr>
              <a:t>Tool’s Used</a:t>
            </a:r>
            <a:endParaRPr lang="en-IN" altLang="en-US" sz="4400" b="1">
              <a:solidFill>
                <a:schemeClr val="tx1">
                  <a:lumMod val="85000"/>
                  <a:lumOff val="15000"/>
                </a:schemeClr>
              </a:solidFill>
              <a:uFillTx/>
            </a:endParaRPr>
          </a:p>
        </p:txBody>
      </p:sp>
      <p:graphicFrame>
        <p:nvGraphicFramePr>
          <p:cNvPr id="5" name="Table 4"/>
          <p:cNvGraphicFramePr/>
          <p:nvPr>
            <p:custDataLst>
              <p:tags r:id="rId1"/>
            </p:custDataLst>
          </p:nvPr>
        </p:nvGraphicFramePr>
        <p:xfrm>
          <a:off x="1828800" y="1787525"/>
          <a:ext cx="8533130" cy="3327400"/>
        </p:xfrm>
        <a:graphic>
          <a:graphicData uri="http://schemas.openxmlformats.org/drawingml/2006/table">
            <a:tbl>
              <a:tblPr firstRow="1" bandRow="1">
                <a:tableStyleId>{5C22544A-7EE6-4342-B048-85BDC9FD1C3A}</a:tableStyleId>
              </a:tblPr>
              <a:tblGrid>
                <a:gridCol w="3120390"/>
                <a:gridCol w="5412740"/>
              </a:tblGrid>
              <a:tr h="665480">
                <a:tc>
                  <a:txBody>
                    <a:bodyPr/>
                    <a:p>
                      <a:pPr algn="ctr">
                        <a:buNone/>
                      </a:pPr>
                      <a:r>
                        <a:rPr lang="en-IN" altLang="en-US"/>
                        <a:t>TOOL</a:t>
                      </a:r>
                      <a:endParaRPr lang="en-IN" altLang="en-US"/>
                    </a:p>
                    <a:p>
                      <a:pPr algn="ctr">
                        <a:buNone/>
                      </a:pPr>
                      <a:endParaRPr lang="en-IN" altLang="en-US"/>
                    </a:p>
                  </a:txBody>
                  <a:tcPr/>
                </a:tc>
                <a:tc>
                  <a:txBody>
                    <a:bodyPr/>
                    <a:p>
                      <a:pPr>
                        <a:buNone/>
                      </a:pPr>
                      <a:r>
                        <a:rPr lang="en-IN" altLang="en-US"/>
                        <a:t>PURPOSE</a:t>
                      </a:r>
                      <a:endParaRPr lang="en-IN" altLang="en-US"/>
                    </a:p>
                  </a:txBody>
                  <a:tcPr/>
                </a:tc>
              </a:tr>
              <a:tr h="665480">
                <a:tc>
                  <a:txBody>
                    <a:bodyPr/>
                    <a:p>
                      <a:pPr algn="ctr">
                        <a:buNone/>
                      </a:pPr>
                      <a:r>
                        <a:rPr lang="en-IN" altLang="en-US" b="1">
                          <a:solidFill>
                            <a:schemeClr val="tx1"/>
                          </a:solidFill>
                          <a:uFillTx/>
                        </a:rPr>
                        <a:t>EXCEL</a:t>
                      </a:r>
                      <a:endParaRPr lang="en-IN" altLang="en-US" b="1">
                        <a:solidFill>
                          <a:schemeClr val="tx1"/>
                        </a:solidFill>
                        <a:uFillTx/>
                      </a:endParaRPr>
                    </a:p>
                  </a:txBody>
                  <a:tcPr/>
                </a:tc>
                <a:tc>
                  <a:txBody>
                    <a:bodyPr/>
                    <a:p>
                      <a:pPr>
                        <a:buNone/>
                      </a:pPr>
                      <a:r>
                        <a:rPr lang="en-IN" altLang="en-US" b="1">
                          <a:solidFill>
                            <a:schemeClr val="tx1"/>
                          </a:solidFill>
                          <a:uFillTx/>
                        </a:rPr>
                        <a:t>Data Cleaning,aggregation,KPI </a:t>
                      </a:r>
                      <a:r>
                        <a:rPr lang="en-IN" altLang="en-US" sz="1800" b="1">
                          <a:solidFill>
                            <a:schemeClr val="tx1"/>
                          </a:solidFill>
                          <a:uFillTx/>
                          <a:sym typeface="+mn-ea"/>
                        </a:rPr>
                        <a:t>and dashboard creation</a:t>
                      </a:r>
                      <a:endParaRPr lang="en-IN" altLang="en-US" sz="1800" b="1">
                        <a:solidFill>
                          <a:schemeClr val="tx1"/>
                        </a:solidFill>
                        <a:uFillTx/>
                        <a:sym typeface="+mn-ea"/>
                      </a:endParaRPr>
                    </a:p>
                  </a:txBody>
                  <a:tcPr/>
                </a:tc>
              </a:tr>
              <a:tr h="665480">
                <a:tc>
                  <a:txBody>
                    <a:bodyPr/>
                    <a:p>
                      <a:pPr algn="ctr">
                        <a:buNone/>
                      </a:pPr>
                      <a:r>
                        <a:rPr lang="en-IN" altLang="en-US" b="1">
                          <a:solidFill>
                            <a:schemeClr val="tx1"/>
                          </a:solidFill>
                          <a:uFillTx/>
                        </a:rPr>
                        <a:t>TABLEAU</a:t>
                      </a:r>
                      <a:endParaRPr lang="en-IN" altLang="en-US" b="1">
                        <a:solidFill>
                          <a:schemeClr val="tx1"/>
                        </a:solidFill>
                        <a:uFillTx/>
                      </a:endParaRPr>
                    </a:p>
                  </a:txBody>
                  <a:tcPr/>
                </a:tc>
                <a:tc>
                  <a:txBody>
                    <a:bodyPr/>
                    <a:p>
                      <a:pPr>
                        <a:buNone/>
                      </a:pPr>
                      <a:r>
                        <a:rPr lang="en-IN" altLang="en-US" b="1">
                          <a:solidFill>
                            <a:schemeClr val="tx1"/>
                          </a:solidFill>
                          <a:uFillTx/>
                        </a:rPr>
                        <a:t>interactive visualization for city wise and class wise analysis</a:t>
                      </a:r>
                      <a:endParaRPr lang="en-IN" altLang="en-US" b="1">
                        <a:solidFill>
                          <a:schemeClr val="tx1"/>
                        </a:solidFill>
                        <a:uFillTx/>
                      </a:endParaRPr>
                    </a:p>
                  </a:txBody>
                  <a:tcPr/>
                </a:tc>
              </a:tr>
              <a:tr h="665480">
                <a:tc>
                  <a:txBody>
                    <a:bodyPr/>
                    <a:p>
                      <a:pPr algn="ctr">
                        <a:buNone/>
                      </a:pPr>
                      <a:r>
                        <a:rPr lang="en-IN" altLang="en-US" b="1">
                          <a:solidFill>
                            <a:schemeClr val="tx1"/>
                          </a:solidFill>
                          <a:uFillTx/>
                        </a:rPr>
                        <a:t>POWER BI</a:t>
                      </a:r>
                      <a:endParaRPr lang="en-IN" altLang="en-US" b="1">
                        <a:solidFill>
                          <a:schemeClr val="tx1"/>
                        </a:solidFill>
                        <a:uFillTx/>
                      </a:endParaRPr>
                    </a:p>
                  </a:txBody>
                  <a:tcPr/>
                </a:tc>
                <a:tc>
                  <a:txBody>
                    <a:bodyPr/>
                    <a:p>
                      <a:pPr>
                        <a:buNone/>
                      </a:pPr>
                      <a:r>
                        <a:rPr lang="en-IN" altLang="en-US" b="1">
                          <a:solidFill>
                            <a:schemeClr val="tx1"/>
                          </a:solidFill>
                          <a:uFillTx/>
                        </a:rPr>
                        <a:t>advance analytics and DAX-based KPI calculations</a:t>
                      </a:r>
                      <a:endParaRPr lang="en-IN" altLang="en-US" b="1">
                        <a:solidFill>
                          <a:schemeClr val="tx1"/>
                        </a:solidFill>
                        <a:uFillTx/>
                      </a:endParaRPr>
                    </a:p>
                  </a:txBody>
                  <a:tcPr/>
                </a:tc>
              </a:tr>
              <a:tr h="665480">
                <a:tc>
                  <a:txBody>
                    <a:bodyPr/>
                    <a:p>
                      <a:pPr algn="ctr">
                        <a:buNone/>
                      </a:pPr>
                      <a:r>
                        <a:rPr lang="en-IN" altLang="en-US" b="1">
                          <a:solidFill>
                            <a:schemeClr val="tx1"/>
                          </a:solidFill>
                          <a:uFillTx/>
                        </a:rPr>
                        <a:t>SQL</a:t>
                      </a:r>
                      <a:endParaRPr lang="en-IN" altLang="en-US" b="1">
                        <a:solidFill>
                          <a:schemeClr val="tx1"/>
                        </a:solidFill>
                        <a:uFillTx/>
                      </a:endParaRPr>
                    </a:p>
                  </a:txBody>
                  <a:tcPr/>
                </a:tc>
                <a:tc>
                  <a:txBody>
                    <a:bodyPr/>
                    <a:p>
                      <a:pPr>
                        <a:buNone/>
                      </a:pPr>
                      <a:r>
                        <a:rPr lang="en-IN" altLang="en-US" b="1">
                          <a:solidFill>
                            <a:schemeClr val="tx1"/>
                          </a:solidFill>
                          <a:uFillTx/>
                        </a:rPr>
                        <a:t>Data extraction and transformation</a:t>
                      </a:r>
                      <a:endParaRPr lang="en-IN" altLang="en-US" b="1">
                        <a:solidFill>
                          <a:schemeClr val="tx1"/>
                        </a:solidFill>
                        <a:uFillTx/>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400" b="1" dirty="0"/>
              <a:t>Challenges </a:t>
            </a:r>
            <a:endParaRPr lang="en-IN" altLang="en-US" sz="4400" b="1" dirty="0"/>
          </a:p>
        </p:txBody>
      </p:sp>
      <p:sp>
        <p:nvSpPr>
          <p:cNvPr id="3" name="Content Placeholder 2"/>
          <p:cNvSpPr>
            <a:spLocks noGrp="1"/>
          </p:cNvSpPr>
          <p:nvPr>
            <p:ph idx="1"/>
          </p:nvPr>
        </p:nvSpPr>
        <p:spPr>
          <a:xfrm>
            <a:off x="2589212" y="1652530"/>
            <a:ext cx="8915400" cy="4258692"/>
          </a:xfrm>
        </p:spPr>
        <p:txBody>
          <a:bodyPr>
            <a:normAutofit/>
          </a:bodyPr>
          <a:lstStyle/>
          <a:p>
            <a:r>
              <a:rPr lang="en-US" dirty="0">
                <a:latin typeface="Bahnschrift" panose="020B0502040204020203" pitchFamily="34" charset="0"/>
              </a:rPr>
              <a:t>Difficulty cleaning and integrating data from multiple sources</a:t>
            </a:r>
            <a:endParaRPr lang="en-US" dirty="0">
              <a:latin typeface="Bahnschrift" panose="020B0502040204020203" pitchFamily="34" charset="0"/>
            </a:endParaRPr>
          </a:p>
          <a:p>
            <a:r>
              <a:rPr lang="en-US" dirty="0">
                <a:latin typeface="Bahnschrift" panose="020B0502040204020203" pitchFamily="34" charset="0"/>
              </a:rPr>
              <a:t>Handling large datasets in Excel and SQL</a:t>
            </a:r>
            <a:endParaRPr lang="en-US" dirty="0">
              <a:latin typeface="Bahnschrift" panose="020B0502040204020203" pitchFamily="34" charset="0"/>
            </a:endParaRPr>
          </a:p>
          <a:p>
            <a:r>
              <a:rPr lang="en-US" dirty="0">
                <a:latin typeface="Bahnschrift" panose="020B0502040204020203" pitchFamily="34" charset="0"/>
              </a:rPr>
              <a:t>Query errors and optimization issues in SQL</a:t>
            </a:r>
            <a:endParaRPr lang="en-US" dirty="0">
              <a:latin typeface="Bahnschrift" panose="020B0502040204020203" pitchFamily="34" charset="0"/>
            </a:endParaRPr>
          </a:p>
          <a:p>
            <a:r>
              <a:rPr lang="en-US" dirty="0">
                <a:latin typeface="Bahnschrift" panose="020B0502040204020203" pitchFamily="34" charset="0"/>
              </a:rPr>
              <a:t>Designing visually appealing and interactive dashboards</a:t>
            </a:r>
            <a:endParaRPr lang="en-US" dirty="0">
              <a:latin typeface="Bahnschrift" panose="020B0502040204020203" pitchFamily="34" charset="0"/>
            </a:endParaRPr>
          </a:p>
          <a:p>
            <a:r>
              <a:rPr lang="en-US" dirty="0">
                <a:latin typeface="Bahnschrift" panose="020B0502040204020203" pitchFamily="34" charset="0"/>
              </a:rPr>
              <a:t>Duplicate bookings, null values, and inconsistent formats (e.g., date/time or currency) lead to incorrect reports.</a:t>
            </a:r>
            <a:endParaRPr lang="en-US" dirty="0">
              <a:latin typeface="Bahnschrift" panose="020B0502040204020203" pitchFamily="34" charset="0"/>
            </a:endParaRPr>
          </a:p>
          <a:p>
            <a:r>
              <a:rPr lang="en-US" dirty="0">
                <a:latin typeface="Bahnschrift" panose="020B0502040204020203" pitchFamily="34" charset="0"/>
              </a:rPr>
              <a:t>Large data volumes (e.g., years of bookings, transactions) slow down dashboards in Power BI/Tableau.</a:t>
            </a:r>
            <a:endParaRPr lang="en-US" dirty="0">
              <a:latin typeface="Bahnschrift" panose="020B0502040204020203" pitchFamily="34" charset="0"/>
            </a:endParaRPr>
          </a:p>
          <a:p>
            <a:r>
              <a:rPr lang="en-US" dirty="0">
                <a:latin typeface="Bahnschrift" panose="020B0502040204020203" pitchFamily="34" charset="0"/>
              </a:rPr>
              <a:t>Some Dashboard look goods on desktop but break on mobile/tablets</a:t>
            </a:r>
            <a:r>
              <a:rPr lang="en-US" dirty="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Solutions</a:t>
            </a:r>
            <a:endParaRPr lang="en-US" b="1" dirty="0"/>
          </a:p>
        </p:txBody>
      </p:sp>
      <p:sp>
        <p:nvSpPr>
          <p:cNvPr id="3" name="Content Placeholder 2"/>
          <p:cNvSpPr>
            <a:spLocks noGrp="1"/>
          </p:cNvSpPr>
          <p:nvPr>
            <p:ph idx="1"/>
          </p:nvPr>
        </p:nvSpPr>
        <p:spPr/>
        <p:txBody>
          <a:bodyPr>
            <a:normAutofit/>
          </a:bodyPr>
          <a:lstStyle/>
          <a:p>
            <a:r>
              <a:rPr lang="en-US" dirty="0">
                <a:latin typeface="Bahnschrift" panose="020B0502040204020203" pitchFamily="34" charset="0"/>
              </a:rPr>
              <a:t>Adopt proper data cleaning techniques before visualization</a:t>
            </a:r>
            <a:endParaRPr lang="en-US" dirty="0">
              <a:latin typeface="Bahnschrift" panose="020B0502040204020203" pitchFamily="34" charset="0"/>
            </a:endParaRPr>
          </a:p>
          <a:p>
            <a:r>
              <a:rPr lang="en-US" dirty="0">
                <a:latin typeface="Bahnschrift" panose="020B0502040204020203" pitchFamily="34" charset="0"/>
              </a:rPr>
              <a:t>Use efficient SQL queries with joins and indexing</a:t>
            </a:r>
            <a:endParaRPr lang="en-US" dirty="0">
              <a:latin typeface="Bahnschrift" panose="020B0502040204020203" pitchFamily="34" charset="0"/>
            </a:endParaRPr>
          </a:p>
          <a:p>
            <a:r>
              <a:rPr lang="en-US" dirty="0">
                <a:latin typeface="Bahnschrift" panose="020B0502040204020203" pitchFamily="34" charset="0"/>
              </a:rPr>
              <a:t>Standardize data formats across all tools</a:t>
            </a:r>
            <a:endParaRPr lang="en-US" dirty="0">
              <a:latin typeface="Bahnschrift" panose="020B0502040204020203" pitchFamily="34" charset="0"/>
            </a:endParaRPr>
          </a:p>
          <a:p>
            <a:r>
              <a:rPr lang="en-US" dirty="0">
                <a:latin typeface="Bahnschrift" panose="020B0502040204020203" pitchFamily="34" charset="0"/>
              </a:rPr>
              <a:t>Design dashboards with clear KPIs and filters</a:t>
            </a:r>
            <a:endParaRPr lang="en-US" dirty="0">
              <a:latin typeface="Bahnschrift" panose="020B0502040204020203" pitchFamily="34" charset="0"/>
            </a:endParaRPr>
          </a:p>
          <a:p>
            <a:r>
              <a:rPr lang="en-US" dirty="0">
                <a:latin typeface="Bahnschrift" panose="020B0502040204020203" pitchFamily="34" charset="0"/>
              </a:rPr>
              <a:t>Use tooltips, slicers, and filters in Power BI/Tableau for interactivity.</a:t>
            </a:r>
            <a:endParaRPr lang="en-US" dirty="0">
              <a:latin typeface="Bahnschrift" panose="020B0502040204020203" pitchFamily="34" charset="0"/>
            </a:endParaRPr>
          </a:p>
          <a:p>
            <a:r>
              <a:rPr lang="en-US" dirty="0">
                <a:latin typeface="Bahnschrift" panose="020B0502040204020203" pitchFamily="34" charset="0"/>
              </a:rPr>
              <a:t>Include legends and data labels for clarity.</a:t>
            </a:r>
            <a:endParaRPr lang="en-US" dirty="0">
              <a:latin typeface="Bahnschrift" panose="020B0502040204020203" pitchFamily="34" charset="0"/>
            </a:endParaRPr>
          </a:p>
          <a:p>
            <a:r>
              <a:rPr lang="en-US" dirty="0">
                <a:latin typeface="Bahnschrift" panose="020B0502040204020203" pitchFamily="34" charset="0"/>
              </a:rPr>
              <a:t>Leverage Power BI and Tableau for interactive reporting</a:t>
            </a:r>
            <a:endParaRPr lang="en-US" dirty="0">
              <a:latin typeface="Bahnschrift" panose="020B0502040204020203" pitchFamily="34" charset="0"/>
            </a:endParaRPr>
          </a:p>
          <a:p>
            <a:r>
              <a:rPr lang="en-US" dirty="0">
                <a:latin typeface="Bahnschrift" panose="020B0502040204020203" pitchFamily="34" charset="0"/>
              </a:rPr>
              <a:t>Regular testing and validation of dashboards</a:t>
            </a:r>
            <a:endParaRPr lang="en-US" dirty="0">
              <a:latin typeface="Bahnschrift" panose="020B0502040204020203" pitchFamily="34" charset="0"/>
            </a:endParaRPr>
          </a:p>
          <a:p>
            <a:endParaRPr lang="en-US" dirty="0"/>
          </a:p>
          <a:p>
            <a:pPr marL="0" indent="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KPI CARDS</a:t>
            </a:r>
            <a:br>
              <a:rPr lang="en-US" dirty="0"/>
            </a:br>
            <a:endParaRPr lang="en-IN" dirty="0"/>
          </a:p>
        </p:txBody>
      </p:sp>
      <p:sp>
        <p:nvSpPr>
          <p:cNvPr id="3" name="Content Placeholder 2"/>
          <p:cNvSpPr>
            <a:spLocks noGrp="1"/>
          </p:cNvSpPr>
          <p:nvPr>
            <p:ph idx="1"/>
          </p:nvPr>
        </p:nvSpPr>
        <p:spPr/>
        <p:txBody>
          <a:bodyPr/>
          <a:lstStyle/>
          <a:p>
            <a:r>
              <a:rPr lang="en-US" dirty="0">
                <a:latin typeface="Bahnschrift" panose="020B0502040204020203" pitchFamily="34" charset="0"/>
              </a:rPr>
              <a:t>The business achieved 1.71B in revenue with 134,590 bookings, maintaining a healthy utilization of 57.87% despite a 24.83% cancellation rate.”</a:t>
            </a:r>
            <a:endParaRPr lang="en-IN" dirty="0">
              <a:latin typeface="Bahnschrift" panose="020B0502040204020203" pitchFamily="34" charset="0"/>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57104" y="3429000"/>
            <a:ext cx="8592749" cy="9173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46599" y="0"/>
            <a:ext cx="3266902" cy="646331"/>
          </a:xfrm>
          <a:prstGeom prst="rect">
            <a:avLst/>
          </a:prstGeom>
          <a:noFill/>
        </p:spPr>
        <p:txBody>
          <a:bodyPr wrap="square" rtlCol="0">
            <a:spAutoFit/>
          </a:bodyPr>
          <a:lstStyle/>
          <a:p>
            <a:r>
              <a:rPr lang="en-US" sz="3600" b="1" u="sng" dirty="0">
                <a:solidFill>
                  <a:schemeClr val="tx1">
                    <a:lumMod val="85000"/>
                    <a:lumOff val="15000"/>
                  </a:schemeClr>
                </a:solidFill>
                <a:latin typeface="+mj-lt"/>
                <a:ea typeface="+mj-ea"/>
                <a:cs typeface="+mj-cs"/>
              </a:rPr>
              <a:t>Visuals</a:t>
            </a:r>
            <a:endParaRPr lang="en-US" sz="3600" b="1" u="sng" dirty="0">
              <a:solidFill>
                <a:schemeClr val="tx1">
                  <a:lumMod val="85000"/>
                  <a:lumOff val="15000"/>
                </a:schemeClr>
              </a:solidFill>
              <a:latin typeface="+mj-lt"/>
              <a:ea typeface="+mj-ea"/>
              <a:cs typeface="+mj-cs"/>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87024" y="1107910"/>
            <a:ext cx="4503791" cy="2682472"/>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6459" y="3975369"/>
            <a:ext cx="6500553" cy="2682472"/>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6459" y="1107910"/>
            <a:ext cx="6500553" cy="2682472"/>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023" y="3975369"/>
            <a:ext cx="4503791" cy="26824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6588" y="33813"/>
            <a:ext cx="6076513" cy="776097"/>
          </a:xfrm>
        </p:spPr>
        <p:txBody>
          <a:bodyPr/>
          <a:lstStyle/>
          <a:p>
            <a:r>
              <a:rPr lang="en-US" b="1" u="sng" dirty="0"/>
              <a:t>Excel Dashboard</a:t>
            </a:r>
            <a:endParaRPr lang="en-IN" b="1" u="sng" dirty="0"/>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3728" y="673544"/>
            <a:ext cx="8423718" cy="6184456"/>
          </a:xfrm>
        </p:spPr>
      </p:pic>
      <p:sp>
        <p:nvSpPr>
          <p:cNvPr id="6" name="Text Box 5"/>
          <p:cNvSpPr txBox="1"/>
          <p:nvPr/>
        </p:nvSpPr>
        <p:spPr>
          <a:xfrm>
            <a:off x="3556000" y="477520"/>
            <a:ext cx="2224405" cy="2477135"/>
          </a:xfrm>
          <a:prstGeom prst="rect">
            <a:avLst/>
          </a:prstGeom>
        </p:spPr>
        <p:txBody>
          <a:bodyPr>
            <a:noAutofit/>
          </a:bodyPr>
          <a:lstStyle/>
          <a:p>
            <a:pPr>
              <a:buFont typeface="Arial" panose="020B0604020202020204"/>
              <a:buChar char="•"/>
            </a:pPr>
            <a:endParaRPr sz="1600"/>
          </a:p>
        </p:txBody>
      </p:sp>
      <p:sp>
        <p:nvSpPr>
          <p:cNvPr id="9" name="Text Box 8"/>
          <p:cNvSpPr txBox="1"/>
          <p:nvPr/>
        </p:nvSpPr>
        <p:spPr>
          <a:xfrm>
            <a:off x="8447447" y="673543"/>
            <a:ext cx="3720825" cy="2201465"/>
          </a:xfrm>
          <a:prstGeom prst="rect">
            <a:avLst/>
          </a:prstGeom>
        </p:spPr>
        <p:txBody>
          <a:bodyPr wrap="square">
            <a:noAutofit/>
          </a:bodyPr>
          <a:lstStyle/>
          <a:p>
            <a:pPr>
              <a:buFont typeface="Arial" panose="020B0604020202020204"/>
              <a:buChar char="•"/>
            </a:pPr>
            <a:r>
              <a:rPr sz="1600" b="1" dirty="0">
                <a:latin typeface="Bahnschrift" panose="020B0502040204020203" pitchFamily="34" charset="0"/>
              </a:rPr>
              <a:t>Total Revenue:</a:t>
            </a:r>
            <a:r>
              <a:rPr sz="1600" dirty="0">
                <a:latin typeface="Bahnschrift" panose="020B0502040204020203" pitchFamily="34" charset="0"/>
              </a:rPr>
              <a:t> ₹1.71B | </a:t>
            </a:r>
            <a:r>
              <a:rPr sz="1600" b="1" dirty="0">
                <a:latin typeface="Bahnschrift" panose="020B0502040204020203" pitchFamily="34" charset="0"/>
              </a:rPr>
              <a:t>Occupancy: </a:t>
            </a:r>
            <a:r>
              <a:rPr sz="1600" dirty="0">
                <a:latin typeface="Bahnschrift" panose="020B0502040204020203" pitchFamily="34" charset="0"/>
              </a:rPr>
              <a:t>57.87% | </a:t>
            </a:r>
            <a:r>
              <a:rPr sz="1600" b="1" dirty="0">
                <a:latin typeface="Bahnschrift" panose="020B0502040204020203" pitchFamily="34" charset="0"/>
              </a:rPr>
              <a:t>Cancellations:</a:t>
            </a:r>
            <a:r>
              <a:rPr sz="1600" dirty="0">
                <a:latin typeface="Bahnschrift" panose="020B0502040204020203" pitchFamily="34" charset="0"/>
              </a:rPr>
              <a:t> 24.83%</a:t>
            </a:r>
            <a:endParaRPr sz="1600" dirty="0">
              <a:latin typeface="Bahnschrift" panose="020B0502040204020203" pitchFamily="34" charset="0"/>
            </a:endParaRPr>
          </a:p>
          <a:p>
            <a:pPr>
              <a:buFont typeface="Arial" panose="020B0604020202020204"/>
              <a:buChar char="•"/>
            </a:pPr>
            <a:endParaRPr sz="1600" dirty="0">
              <a:latin typeface="Bahnschrift" panose="020B0502040204020203" pitchFamily="34" charset="0"/>
            </a:endParaRPr>
          </a:p>
          <a:p>
            <a:pPr>
              <a:buFont typeface="Arial" panose="020B0604020202020204"/>
              <a:buChar char="•"/>
            </a:pPr>
            <a:r>
              <a:rPr sz="1600" b="1" dirty="0">
                <a:latin typeface="Bahnschrift" panose="020B0502040204020203" pitchFamily="34" charset="0"/>
              </a:rPr>
              <a:t>Top City:</a:t>
            </a:r>
            <a:r>
              <a:rPr sz="1600" dirty="0">
                <a:latin typeface="Bahnschrift" panose="020B0502040204020203" pitchFamily="34" charset="0"/>
              </a:rPr>
              <a:t> Mumbai (₹669L) | </a:t>
            </a:r>
            <a:r>
              <a:rPr sz="1600" b="1" dirty="0">
                <a:latin typeface="Bahnschrift" panose="020B0502040204020203" pitchFamily="34" charset="0"/>
              </a:rPr>
              <a:t>Lowest</a:t>
            </a:r>
            <a:r>
              <a:rPr sz="1600" dirty="0">
                <a:latin typeface="Bahnschrift" panose="020B0502040204020203" pitchFamily="34" charset="0"/>
              </a:rPr>
              <a:t>: Delhi (₹295L)</a:t>
            </a:r>
            <a:endParaRPr sz="1600" dirty="0">
              <a:latin typeface="Bahnschrift" panose="020B0502040204020203" pitchFamily="34" charset="0"/>
            </a:endParaRPr>
          </a:p>
          <a:p>
            <a:pPr>
              <a:buFont typeface="Arial" panose="020B0604020202020204"/>
              <a:buChar char="•"/>
            </a:pPr>
            <a:endParaRPr sz="1600" dirty="0">
              <a:latin typeface="Bahnschrift" panose="020B0502040204020203" pitchFamily="34" charset="0"/>
            </a:endParaRPr>
          </a:p>
          <a:p>
            <a:pPr>
              <a:buFont typeface="Arial" panose="020B0604020202020204"/>
              <a:buChar char="•"/>
            </a:pPr>
            <a:r>
              <a:rPr sz="1600" b="1" dirty="0">
                <a:latin typeface="Bahnschrift" panose="020B0502040204020203" pitchFamily="34" charset="0"/>
              </a:rPr>
              <a:t>Top Hotels:</a:t>
            </a:r>
            <a:r>
              <a:rPr sz="1600" dirty="0">
                <a:latin typeface="Bahnschrift" panose="020B0502040204020203" pitchFamily="34" charset="0"/>
              </a:rPr>
              <a:t> Atliq Exotica &amp; Atliq Palace | Lowest: Atliq Seasons</a:t>
            </a:r>
            <a:endParaRPr sz="1600" dirty="0">
              <a:latin typeface="Bahnschrift" panose="020B0502040204020203" pitchFamily="34" charset="0"/>
            </a:endParaRPr>
          </a:p>
          <a:p>
            <a:pPr>
              <a:buFont typeface="Arial" panose="020B0604020202020204"/>
              <a:buChar char="•"/>
            </a:pPr>
            <a:endParaRPr sz="1600" dirty="0">
              <a:latin typeface="Bahnschrift" panose="020B0502040204020203" pitchFamily="34" charset="0"/>
            </a:endParaRPr>
          </a:p>
          <a:p>
            <a:pPr indent="0">
              <a:buFont typeface="Arial" panose="020B0604020202020204"/>
              <a:buNone/>
            </a:pPr>
            <a:endParaRPr sz="1600" dirty="0"/>
          </a:p>
        </p:txBody>
      </p:sp>
      <p:sp>
        <p:nvSpPr>
          <p:cNvPr id="10" name="Text Box 9"/>
          <p:cNvSpPr txBox="1"/>
          <p:nvPr/>
        </p:nvSpPr>
        <p:spPr>
          <a:xfrm>
            <a:off x="8447446" y="2839283"/>
            <a:ext cx="3744554" cy="3624549"/>
          </a:xfrm>
          <a:prstGeom prst="rect">
            <a:avLst/>
          </a:prstGeom>
          <a:noFill/>
        </p:spPr>
        <p:txBody>
          <a:bodyPr wrap="square" rtlCol="0" anchor="t">
            <a:noAutofit/>
          </a:bodyPr>
          <a:lstStyle/>
          <a:p>
            <a:pPr>
              <a:buFont typeface="Arial" panose="020B0604020202020204"/>
              <a:buChar char="•"/>
            </a:pPr>
            <a:r>
              <a:rPr sz="1600" dirty="0">
                <a:latin typeface="Bahnschrift" panose="020B0502040204020203" pitchFamily="34" charset="0"/>
                <a:sym typeface="+mn-ea"/>
              </a:rPr>
              <a:t>Elite &amp; Premium rooms drive maximum revenue.</a:t>
            </a:r>
            <a:endParaRPr sz="1600" dirty="0">
              <a:latin typeface="Bahnschrift" panose="020B0502040204020203" pitchFamily="34" charset="0"/>
            </a:endParaRPr>
          </a:p>
          <a:p>
            <a:pPr>
              <a:buFont typeface="Arial" panose="020B0604020202020204"/>
              <a:buChar char="•"/>
            </a:pPr>
            <a:endParaRPr sz="1600" dirty="0">
              <a:latin typeface="Bahnschrift" panose="020B0502040204020203" pitchFamily="34" charset="0"/>
            </a:endParaRPr>
          </a:p>
          <a:p>
            <a:pPr>
              <a:buFont typeface="Arial" panose="020B0604020202020204"/>
              <a:buChar char="•"/>
            </a:pPr>
            <a:r>
              <a:rPr sz="1600" dirty="0">
                <a:latin typeface="Bahnschrift" panose="020B0502040204020203" pitchFamily="34" charset="0"/>
                <a:sym typeface="+mn-ea"/>
              </a:rPr>
              <a:t>Weekday bookings higher than weekends → strong business segment.</a:t>
            </a:r>
            <a:endParaRPr sz="1600" dirty="0">
              <a:latin typeface="Bahnschrift" panose="020B0502040204020203" pitchFamily="34" charset="0"/>
            </a:endParaRPr>
          </a:p>
          <a:p>
            <a:pPr>
              <a:buFont typeface="Arial" panose="020B0604020202020204"/>
              <a:buChar char="•"/>
            </a:pPr>
            <a:endParaRPr sz="1600" dirty="0">
              <a:latin typeface="Bahnschrift" panose="020B0502040204020203" pitchFamily="34" charset="0"/>
            </a:endParaRPr>
          </a:p>
          <a:p>
            <a:pPr>
              <a:buFont typeface="Arial" panose="020B0604020202020204"/>
              <a:buChar char="•"/>
            </a:pPr>
            <a:r>
              <a:rPr sz="1600" dirty="0">
                <a:latin typeface="Bahnschrift" panose="020B0502040204020203" pitchFamily="34" charset="0"/>
                <a:sym typeface="+mn-ea"/>
              </a:rPr>
              <a:t>Revenue peaked in Weeks 24 &amp; 28; drop seen in Weeks 30–32.</a:t>
            </a:r>
            <a:endParaRPr sz="1600" dirty="0">
              <a:latin typeface="Bahnschrift" panose="020B0502040204020203" pitchFamily="34" charset="0"/>
            </a:endParaRPr>
          </a:p>
          <a:p>
            <a:pPr>
              <a:buFont typeface="Arial" panose="020B0604020202020204"/>
              <a:buChar char="•"/>
            </a:pPr>
            <a:endParaRPr sz="1600" dirty="0"/>
          </a:p>
          <a:p>
            <a:pPr>
              <a:buFont typeface="Arial" panose="020B0604020202020204"/>
              <a:buChar char="•"/>
            </a:pPr>
            <a:endParaRPr sz="1600" dirty="0"/>
          </a:p>
          <a:p>
            <a:pPr>
              <a:buFont typeface="Arial" panose="020B0604020202020204"/>
              <a:buChar char="•"/>
            </a:pPr>
            <a:endParaRPr lang="en-US" sz="1600" dirty="0">
              <a:sym typeface="+mn-e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4137" y="161669"/>
            <a:ext cx="642451" cy="5203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96911" y="1"/>
            <a:ext cx="4921134" cy="646331"/>
          </a:xfrm>
          <a:prstGeom prst="rect">
            <a:avLst/>
          </a:prstGeom>
          <a:noFill/>
        </p:spPr>
        <p:txBody>
          <a:bodyPr wrap="square" rtlCol="0">
            <a:spAutoFit/>
          </a:bodyPr>
          <a:lstStyle/>
          <a:p>
            <a:r>
              <a:rPr lang="en-US" sz="3600" b="1" u="sng" dirty="0">
                <a:solidFill>
                  <a:schemeClr val="tx1">
                    <a:lumMod val="85000"/>
                    <a:lumOff val="15000"/>
                  </a:schemeClr>
                </a:solidFill>
                <a:latin typeface="+mj-lt"/>
                <a:ea typeface="+mj-ea"/>
                <a:cs typeface="+mj-cs"/>
              </a:rPr>
              <a:t>Tableau Dashboard</a:t>
            </a:r>
            <a:endParaRPr lang="en-US" sz="3600" b="1" u="sng" dirty="0">
              <a:solidFill>
                <a:schemeClr val="tx1">
                  <a:lumMod val="85000"/>
                  <a:lumOff val="15000"/>
                </a:schemeClr>
              </a:solidFill>
              <a:latin typeface="+mj-lt"/>
              <a:ea typeface="+mj-ea"/>
              <a:cs typeface="+mj-cs"/>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 y="701919"/>
            <a:ext cx="8251634" cy="6156080"/>
          </a:xfrm>
          <a:prstGeom prst="rect">
            <a:avLst/>
          </a:prstGeom>
        </p:spPr>
      </p:pic>
      <p:sp>
        <p:nvSpPr>
          <p:cNvPr id="2" name="Text Box 1"/>
          <p:cNvSpPr txBox="1"/>
          <p:nvPr/>
        </p:nvSpPr>
        <p:spPr>
          <a:xfrm>
            <a:off x="8251635" y="646332"/>
            <a:ext cx="4120307" cy="2636695"/>
          </a:xfrm>
          <a:prstGeom prst="rect">
            <a:avLst/>
          </a:prstGeom>
        </p:spPr>
        <p:txBody>
          <a:bodyPr>
            <a:noAutofit/>
          </a:bodyPr>
          <a:lstStyle/>
          <a:p>
            <a:pPr>
              <a:buFont typeface="Arial" panose="020B0604020202020204"/>
              <a:buChar char="•"/>
            </a:pPr>
            <a:r>
              <a:rPr sz="1600" b="1" dirty="0"/>
              <a:t>Total Revenue: </a:t>
            </a:r>
            <a:r>
              <a:rPr sz="1600" dirty="0"/>
              <a:t>₹2B</a:t>
            </a:r>
            <a:r>
              <a:rPr sz="1600" b="1" dirty="0"/>
              <a:t> | Total Bookings: </a:t>
            </a:r>
            <a:r>
              <a:rPr sz="1600" dirty="0"/>
              <a:t>128,874  </a:t>
            </a:r>
            <a:r>
              <a:rPr sz="1600" b="1" dirty="0"/>
              <a:t>Occupancy: </a:t>
            </a:r>
            <a:r>
              <a:rPr sz="1600" dirty="0"/>
              <a:t>57.9%</a:t>
            </a:r>
            <a:r>
              <a:rPr sz="1600" b="1" dirty="0"/>
              <a:t> | Cancellations: </a:t>
            </a:r>
            <a:r>
              <a:rPr sz="1600" dirty="0"/>
              <a:t>24.8%</a:t>
            </a:r>
            <a:endParaRPr sz="1600" b="1" dirty="0"/>
          </a:p>
          <a:p>
            <a:pPr>
              <a:buFont typeface="Arial" panose="020B0604020202020204"/>
              <a:buChar char="•"/>
            </a:pPr>
            <a:endParaRPr sz="1600" b="1" dirty="0"/>
          </a:p>
          <a:p>
            <a:pPr>
              <a:buFont typeface="Arial" panose="020B0604020202020204"/>
              <a:buChar char="•"/>
            </a:pPr>
            <a:r>
              <a:rPr sz="1600" b="1" dirty="0"/>
              <a:t>Weekday</a:t>
            </a:r>
            <a:r>
              <a:rPr sz="1600" dirty="0"/>
              <a:t> bookings significantly higher than </a:t>
            </a:r>
            <a:r>
              <a:rPr sz="1600" b="1" dirty="0"/>
              <a:t>weekends → strong corporate demand.</a:t>
            </a:r>
            <a:endParaRPr sz="1600" b="1" dirty="0"/>
          </a:p>
          <a:p>
            <a:pPr>
              <a:buFont typeface="Arial" panose="020B0604020202020204"/>
              <a:buChar char="•"/>
            </a:pPr>
            <a:endParaRPr sz="1600" b="1" dirty="0"/>
          </a:p>
          <a:p>
            <a:pPr>
              <a:buFont typeface="Arial" panose="020B0604020202020204"/>
              <a:buChar char="•"/>
            </a:pPr>
            <a:r>
              <a:rPr sz="1600" b="1" dirty="0"/>
              <a:t>Top City: </a:t>
            </a:r>
            <a:r>
              <a:rPr sz="1600" dirty="0"/>
              <a:t>Mumbai leads in total revenue, followed by Bangalore.</a:t>
            </a:r>
            <a:endParaRPr sz="1600" dirty="0"/>
          </a:p>
          <a:p>
            <a:pPr>
              <a:buFont typeface="Arial" panose="020B0604020202020204"/>
              <a:buChar char="•"/>
            </a:pPr>
            <a:endParaRPr sz="1600" dirty="0"/>
          </a:p>
          <a:p>
            <a:pPr>
              <a:buFont typeface="Arial" panose="020B0604020202020204"/>
              <a:buChar char="•"/>
            </a:pPr>
            <a:endParaRPr sz="1600" b="1" dirty="0"/>
          </a:p>
          <a:p>
            <a:pPr>
              <a:buFont typeface="Arial" panose="020B0604020202020204"/>
              <a:buChar char="•"/>
            </a:pPr>
            <a:endParaRPr sz="1600" b="1" dirty="0"/>
          </a:p>
        </p:txBody>
      </p:sp>
      <p:sp>
        <p:nvSpPr>
          <p:cNvPr id="3" name="Text Box 2"/>
          <p:cNvSpPr txBox="1"/>
          <p:nvPr/>
        </p:nvSpPr>
        <p:spPr>
          <a:xfrm>
            <a:off x="8251635" y="3110114"/>
            <a:ext cx="3920103" cy="2235835"/>
          </a:xfrm>
          <a:prstGeom prst="rect">
            <a:avLst/>
          </a:prstGeom>
          <a:noFill/>
        </p:spPr>
        <p:txBody>
          <a:bodyPr wrap="square" rtlCol="0" anchor="t">
            <a:noAutofit/>
          </a:bodyPr>
          <a:lstStyle/>
          <a:p>
            <a:pPr>
              <a:buFont typeface="Arial" panose="020B0604020202020204"/>
              <a:buChar char="•"/>
            </a:pPr>
            <a:r>
              <a:rPr sz="1600" b="1" dirty="0">
                <a:sym typeface="+mn-ea"/>
              </a:rPr>
              <a:t>Top Hotels:</a:t>
            </a:r>
            <a:r>
              <a:rPr sz="1600" dirty="0">
                <a:sym typeface="+mn-ea"/>
              </a:rPr>
              <a:t> Atliq Palace &amp; Atliq Exotica show highest revenue.</a:t>
            </a:r>
            <a:endParaRPr sz="1600" dirty="0"/>
          </a:p>
          <a:p>
            <a:pPr>
              <a:buFont typeface="Arial" panose="020B0604020202020204"/>
              <a:buChar char="•"/>
            </a:pPr>
            <a:endParaRPr sz="1600" dirty="0"/>
          </a:p>
          <a:p>
            <a:pPr>
              <a:buFont typeface="Arial" panose="020B0604020202020204"/>
              <a:buChar char="•"/>
            </a:pPr>
            <a:r>
              <a:rPr sz="1600" b="1" dirty="0">
                <a:sym typeface="+mn-ea"/>
              </a:rPr>
              <a:t>Room Class Performance: Elite</a:t>
            </a:r>
            <a:r>
              <a:rPr sz="1600" dirty="0">
                <a:sym typeface="+mn-ea"/>
              </a:rPr>
              <a:t> &amp; Premium generate maximum revenue.</a:t>
            </a:r>
            <a:endParaRPr sz="1600" dirty="0"/>
          </a:p>
          <a:p>
            <a:pPr>
              <a:buFont typeface="Arial" panose="020B0604020202020204"/>
              <a:buChar char="•"/>
            </a:pPr>
            <a:endParaRPr sz="1600" dirty="0"/>
          </a:p>
          <a:p>
            <a:pPr>
              <a:buFont typeface="Arial" panose="020B0604020202020204"/>
              <a:buChar char="•"/>
            </a:pPr>
            <a:r>
              <a:rPr sz="1600" b="1" dirty="0">
                <a:sym typeface="+mn-ea"/>
              </a:rPr>
              <a:t>Weekly Trend: </a:t>
            </a:r>
            <a:r>
              <a:rPr sz="1600" dirty="0">
                <a:sym typeface="+mn-ea"/>
              </a:rPr>
              <a:t>Revenue peaked in Week 19–26, then dropped sharply after Week 30.</a:t>
            </a:r>
            <a:endParaRPr sz="1600" dirty="0"/>
          </a:p>
          <a:p>
            <a:pPr>
              <a:buFont typeface="Arial" panose="020B0604020202020204"/>
              <a:buChar char="•"/>
            </a:pPr>
            <a:endParaRPr sz="1600" dirty="0"/>
          </a:p>
          <a:p>
            <a:pPr>
              <a:buFont typeface="Arial" panose="020B0604020202020204"/>
              <a:buChar char="•"/>
            </a:pPr>
            <a:r>
              <a:rPr sz="1600" b="1" dirty="0">
                <a:sym typeface="+mn-ea"/>
              </a:rPr>
              <a:t>Booking Status:</a:t>
            </a:r>
            <a:r>
              <a:rPr sz="1600" dirty="0">
                <a:sym typeface="+mn-ea"/>
              </a:rPr>
              <a:t> ~70% checked-out, ~25% cancelled — indicates scope to reduce cancellations.</a:t>
            </a:r>
            <a:endParaRPr lang="en-US" sz="1600" dirty="0">
              <a:sym typeface="+mn-ea"/>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38269" y="55588"/>
            <a:ext cx="658642" cy="5907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60251" y="-10586"/>
            <a:ext cx="5885411" cy="646331"/>
          </a:xfrm>
          <a:prstGeom prst="rect">
            <a:avLst/>
          </a:prstGeom>
          <a:noFill/>
        </p:spPr>
        <p:txBody>
          <a:bodyPr wrap="square" rtlCol="0">
            <a:spAutoFit/>
          </a:bodyPr>
          <a:lstStyle/>
          <a:p>
            <a:pPr>
              <a:spcBef>
                <a:spcPct val="0"/>
              </a:spcBef>
            </a:pPr>
            <a:r>
              <a:rPr lang="en-US" sz="3600" b="1" u="sng" dirty="0">
                <a:solidFill>
                  <a:schemeClr val="tx1">
                    <a:lumMod val="85000"/>
                    <a:lumOff val="15000"/>
                  </a:schemeClr>
                </a:solidFill>
                <a:latin typeface="+mj-lt"/>
                <a:ea typeface="+mj-ea"/>
                <a:cs typeface="+mj-cs"/>
              </a:rPr>
              <a:t>PowerBI Dashboard</a:t>
            </a:r>
            <a:endParaRPr lang="en-US" sz="3600" b="1" u="sng" dirty="0">
              <a:solidFill>
                <a:schemeClr val="tx1">
                  <a:lumMod val="85000"/>
                  <a:lumOff val="15000"/>
                </a:schemeClr>
              </a:solidFill>
              <a:latin typeface="+mj-lt"/>
              <a:ea typeface="+mj-ea"/>
              <a:cs typeface="+mj-cs"/>
            </a:endParaRPr>
          </a:p>
        </p:txBody>
      </p:sp>
      <p:pic>
        <p:nvPicPr>
          <p:cNvPr id="2" name="Picture 1"/>
          <p:cNvPicPr>
            <a:picLocks noChangeAspect="1"/>
          </p:cNvPicPr>
          <p:nvPr/>
        </p:nvPicPr>
        <p:blipFill>
          <a:blip r:embed="rId1"/>
          <a:stretch>
            <a:fillRect/>
          </a:stretch>
        </p:blipFill>
        <p:spPr>
          <a:xfrm>
            <a:off x="0" y="635744"/>
            <a:ext cx="7447400" cy="6222255"/>
          </a:xfrm>
          <a:prstGeom prst="rect">
            <a:avLst/>
          </a:prstGeom>
        </p:spPr>
      </p:pic>
      <p:sp>
        <p:nvSpPr>
          <p:cNvPr id="3" name="Text Box 2"/>
          <p:cNvSpPr txBox="1"/>
          <p:nvPr/>
        </p:nvSpPr>
        <p:spPr>
          <a:xfrm>
            <a:off x="7447401" y="635745"/>
            <a:ext cx="4744598" cy="3086735"/>
          </a:xfrm>
          <a:prstGeom prst="rect">
            <a:avLst/>
          </a:prstGeom>
        </p:spPr>
        <p:txBody>
          <a:bodyPr wrap="square">
            <a:noAutofit/>
          </a:bodyPr>
          <a:lstStyle/>
          <a:p>
            <a:pPr marL="285750" indent="-285750">
              <a:buFont typeface="Arial" panose="020B0604020202020204" pitchFamily="34" charset="0"/>
              <a:buChar char="•"/>
            </a:pPr>
            <a:r>
              <a:rPr sz="1600" b="1" dirty="0"/>
              <a:t>Total Revenue:</a:t>
            </a:r>
            <a:r>
              <a:rPr sz="1600" dirty="0"/>
              <a:t> ₹1.71B | </a:t>
            </a:r>
            <a:r>
              <a:rPr sz="1600" b="1" dirty="0"/>
              <a:t>Occupancy: </a:t>
            </a:r>
            <a:r>
              <a:rPr sz="1600" dirty="0"/>
              <a:t>57.9% | </a:t>
            </a:r>
            <a:r>
              <a:rPr sz="1600" b="1" dirty="0"/>
              <a:t>Avg Rating:</a:t>
            </a:r>
            <a:r>
              <a:rPr sz="1600" dirty="0"/>
              <a:t> 3.6 </a:t>
            </a:r>
            <a:endParaRPr sz="1600" dirty="0"/>
          </a:p>
          <a:p>
            <a:pPr marL="285750" indent="-285750">
              <a:buClr>
                <a:srgbClr val="000000"/>
              </a:buClr>
              <a:buFont typeface="Arial" panose="020B0604020202020204" pitchFamily="34" charset="0"/>
              <a:buChar char="•"/>
            </a:pPr>
            <a:endParaRPr sz="1600" dirty="0"/>
          </a:p>
          <a:p>
            <a:pPr marL="285750" indent="-285750">
              <a:buFont typeface="Arial" panose="020B0604020202020204" pitchFamily="34" charset="0"/>
              <a:buChar char="•"/>
            </a:pPr>
            <a:r>
              <a:rPr sz="1600" b="1" dirty="0"/>
              <a:t>Cancellations: </a:t>
            </a:r>
            <a:r>
              <a:rPr sz="1600" dirty="0"/>
              <a:t>24.8% | Total Bookings: 135K</a:t>
            </a:r>
            <a:endParaRPr sz="1600" dirty="0"/>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t>Top Properties:</a:t>
            </a:r>
            <a:r>
              <a:rPr sz="1600" dirty="0"/>
              <a:t> Atliq Exotica (₹320M) &amp; Atliq Palace (₹304M)</a:t>
            </a:r>
            <a:endParaRPr sz="1600" dirty="0"/>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t>Lowest Performer:</a:t>
            </a:r>
            <a:r>
              <a:rPr sz="1600" dirty="0"/>
              <a:t> Atliq Seasons (₹66M)</a:t>
            </a:r>
            <a:endParaRPr sz="1600" dirty="0"/>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sym typeface="+mn-ea"/>
              </a:rPr>
              <a:t>Weekday Revenue</a:t>
            </a:r>
            <a:r>
              <a:rPr sz="1600" dirty="0">
                <a:sym typeface="+mn-ea"/>
              </a:rPr>
              <a:t> (₹1070M) higher than weekend (₹639M) → strong business travel base.</a:t>
            </a:r>
            <a:endParaRPr sz="1600" dirty="0"/>
          </a:p>
          <a:p>
            <a:pPr marL="285750" indent="-285750">
              <a:buFont typeface="Arial" panose="020B0604020202020204" pitchFamily="34" charset="0"/>
              <a:buChar char="•"/>
            </a:pPr>
            <a:endParaRPr sz="1600" dirty="0"/>
          </a:p>
          <a:p>
            <a:pPr marL="285750" indent="-285750">
              <a:buFont typeface="Arial" panose="020B0604020202020204" pitchFamily="34" charset="0"/>
              <a:buChar char="•"/>
            </a:pPr>
            <a:endParaRPr sz="1600" dirty="0"/>
          </a:p>
        </p:txBody>
      </p:sp>
      <p:sp>
        <p:nvSpPr>
          <p:cNvPr id="5" name="Text Box 4"/>
          <p:cNvSpPr txBox="1"/>
          <p:nvPr/>
        </p:nvSpPr>
        <p:spPr>
          <a:xfrm>
            <a:off x="7447400" y="3843666"/>
            <a:ext cx="4695023" cy="2800767"/>
          </a:xfrm>
          <a:prstGeom prst="rect">
            <a:avLst/>
          </a:prstGeom>
          <a:noFill/>
        </p:spPr>
        <p:txBody>
          <a:bodyPr wrap="square" rtlCol="0" anchor="t">
            <a:spAutoFit/>
          </a:bodyPr>
          <a:lstStyle/>
          <a:p>
            <a:pPr marL="285750" indent="-285750">
              <a:buFont typeface="Arial" panose="020B0604020202020204" pitchFamily="34" charset="0"/>
              <a:buChar char="•"/>
            </a:pPr>
            <a:r>
              <a:rPr sz="1600" b="1" dirty="0">
                <a:sym typeface="+mn-ea"/>
              </a:rPr>
              <a:t>Mumbai leads in ADR</a:t>
            </a:r>
            <a:r>
              <a:rPr sz="1600" dirty="0">
                <a:sym typeface="+mn-ea"/>
              </a:rPr>
              <a:t> (₹15,387), followed by </a:t>
            </a:r>
            <a:r>
              <a:rPr sz="1600" b="1" dirty="0">
                <a:sym typeface="+mn-ea"/>
              </a:rPr>
              <a:t>Bangalore</a:t>
            </a:r>
            <a:r>
              <a:rPr sz="1600" dirty="0">
                <a:sym typeface="+mn-ea"/>
              </a:rPr>
              <a:t> (₹13,131).</a:t>
            </a:r>
            <a:endParaRPr sz="1600" dirty="0"/>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sym typeface="+mn-ea"/>
              </a:rPr>
              <a:t>Booking Platforms: </a:t>
            </a:r>
            <a:r>
              <a:rPr lang="en-US" sz="1600" b="1" dirty="0">
                <a:sym typeface="+mn-ea"/>
              </a:rPr>
              <a:t>Majorty</a:t>
            </a:r>
            <a:r>
              <a:rPr sz="1600" b="1" dirty="0">
                <a:sym typeface="+mn-ea"/>
              </a:rPr>
              <a:t>“Others”&amp;</a:t>
            </a:r>
            <a:r>
              <a:rPr lang="en-US" sz="1600" b="1" dirty="0">
                <a:sym typeface="+mn-ea"/>
              </a:rPr>
              <a:t>“</a:t>
            </a:r>
            <a:r>
              <a:rPr lang="en-US" sz="1600" b="1" dirty="0" err="1">
                <a:sym typeface="+mn-ea"/>
              </a:rPr>
              <a:t>Makeyourtrip</a:t>
            </a:r>
            <a:r>
              <a:rPr lang="en-US" sz="1600" b="1" dirty="0">
                <a:sym typeface="+mn-ea"/>
              </a:rPr>
              <a:t>”</a:t>
            </a:r>
            <a:r>
              <a:rPr sz="1600" b="1" dirty="0">
                <a:sym typeface="+mn-ea"/>
              </a:rPr>
              <a:t>.</a:t>
            </a:r>
            <a:endParaRPr sz="1600" b="1" dirty="0"/>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sym typeface="+mn-ea"/>
              </a:rPr>
              <a:t>Customer Ratings: </a:t>
            </a:r>
            <a:r>
              <a:rPr sz="1600" dirty="0">
                <a:sym typeface="+mn-ea"/>
              </a:rPr>
              <a:t>Highest for Atliq Blu (4.0), lowest for Atliq Seasons (2.3).</a:t>
            </a:r>
            <a:endParaRPr sz="1600" dirty="0"/>
          </a:p>
          <a:p>
            <a:pPr marL="285750" indent="-285750">
              <a:buFont typeface="Arial" panose="020B0604020202020204" pitchFamily="34" charset="0"/>
              <a:buChar char="•"/>
            </a:pPr>
            <a:endParaRPr sz="1600" dirty="0"/>
          </a:p>
          <a:p>
            <a:pPr marL="285750" indent="-285750">
              <a:buFont typeface="Arial" panose="020B0604020202020204" pitchFamily="34" charset="0"/>
              <a:buChar char="•"/>
            </a:pPr>
            <a:r>
              <a:rPr sz="1600" b="1" dirty="0">
                <a:sym typeface="+mn-ea"/>
              </a:rPr>
              <a:t>Booking Status:</a:t>
            </a:r>
            <a:r>
              <a:rPr sz="1600" dirty="0">
                <a:sym typeface="+mn-ea"/>
              </a:rPr>
              <a:t> 70% checked-out, 25% cancelled, 5% no-show.</a:t>
            </a:r>
            <a:endParaRPr lang="en-US" sz="1600" dirty="0">
              <a:sym typeface="+mn-ea"/>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6623" y="217102"/>
            <a:ext cx="473628" cy="4186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35706" y="0"/>
            <a:ext cx="4319847" cy="646331"/>
          </a:xfrm>
          <a:prstGeom prst="rect">
            <a:avLst/>
          </a:prstGeom>
          <a:noFill/>
        </p:spPr>
        <p:txBody>
          <a:bodyPr wrap="square" rtlCol="0">
            <a:spAutoFit/>
          </a:bodyPr>
          <a:lstStyle/>
          <a:p>
            <a:r>
              <a:rPr lang="en-US" sz="3600" b="1" u="sng" dirty="0">
                <a:solidFill>
                  <a:schemeClr val="tx1">
                    <a:lumMod val="85000"/>
                    <a:lumOff val="15000"/>
                  </a:schemeClr>
                </a:solidFill>
                <a:latin typeface="+mj-lt"/>
                <a:ea typeface="+mj-ea"/>
                <a:cs typeface="+mj-cs"/>
              </a:rPr>
              <a:t>SQL</a:t>
            </a:r>
            <a:r>
              <a:rPr lang="en-US" b="1" u="sng" dirty="0"/>
              <a:t> </a:t>
            </a:r>
            <a:r>
              <a:rPr lang="en-US" sz="3600" b="1" u="sng" dirty="0">
                <a:solidFill>
                  <a:schemeClr val="tx1">
                    <a:lumMod val="85000"/>
                    <a:lumOff val="15000"/>
                  </a:schemeClr>
                </a:solidFill>
                <a:latin typeface="+mj-lt"/>
                <a:ea typeface="+mj-ea"/>
                <a:cs typeface="+mj-cs"/>
              </a:rPr>
              <a:t>Queries</a:t>
            </a:r>
            <a:endParaRPr lang="en-US" sz="3600" b="1" u="sng" dirty="0">
              <a:solidFill>
                <a:schemeClr val="tx1">
                  <a:lumMod val="85000"/>
                  <a:lumOff val="15000"/>
                </a:schemeClr>
              </a:solidFill>
              <a:latin typeface="+mj-lt"/>
              <a:ea typeface="+mj-ea"/>
              <a:cs typeface="+mj-cs"/>
            </a:endParaRPr>
          </a:p>
        </p:txBody>
      </p:sp>
      <p:pic>
        <p:nvPicPr>
          <p:cNvPr id="2" name="Picture 1"/>
          <p:cNvPicPr>
            <a:picLocks noChangeAspect="1"/>
          </p:cNvPicPr>
          <p:nvPr/>
        </p:nvPicPr>
        <p:blipFill>
          <a:blip r:embed="rId1"/>
          <a:stretch>
            <a:fillRect/>
          </a:stretch>
        </p:blipFill>
        <p:spPr>
          <a:xfrm>
            <a:off x="335280" y="740780"/>
            <a:ext cx="11622405" cy="5952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33786" y="0"/>
            <a:ext cx="4319847" cy="646331"/>
          </a:xfrm>
          <a:prstGeom prst="rect">
            <a:avLst/>
          </a:prstGeom>
          <a:noFill/>
        </p:spPr>
        <p:txBody>
          <a:bodyPr wrap="square" rtlCol="0">
            <a:spAutoFit/>
          </a:bodyPr>
          <a:lstStyle/>
          <a:p>
            <a:r>
              <a:rPr lang="en-US" sz="3600" b="1" u="sng" dirty="0">
                <a:solidFill>
                  <a:schemeClr val="tx1">
                    <a:lumMod val="85000"/>
                    <a:lumOff val="15000"/>
                  </a:schemeClr>
                </a:solidFill>
                <a:latin typeface="+mj-lt"/>
                <a:ea typeface="+mj-ea"/>
                <a:cs typeface="+mj-cs"/>
              </a:rPr>
              <a:t>SQL</a:t>
            </a:r>
            <a:r>
              <a:rPr lang="en-US" b="1" u="sng" dirty="0"/>
              <a:t> </a:t>
            </a:r>
            <a:r>
              <a:rPr lang="en-US" sz="3600" b="1" u="sng" dirty="0">
                <a:solidFill>
                  <a:schemeClr val="tx1">
                    <a:lumMod val="85000"/>
                    <a:lumOff val="15000"/>
                  </a:schemeClr>
                </a:solidFill>
                <a:latin typeface="+mj-lt"/>
                <a:ea typeface="+mj-ea"/>
                <a:cs typeface="+mj-cs"/>
              </a:rPr>
              <a:t>Queries</a:t>
            </a:r>
            <a:endParaRPr lang="en-US" sz="3600" b="1" u="sng" dirty="0">
              <a:solidFill>
                <a:schemeClr val="tx1">
                  <a:lumMod val="85000"/>
                  <a:lumOff val="15000"/>
                </a:schemeClr>
              </a:solidFill>
              <a:latin typeface="+mj-lt"/>
              <a:ea typeface="+mj-ea"/>
              <a:cs typeface="+mj-cs"/>
            </a:endParaRPr>
          </a:p>
        </p:txBody>
      </p:sp>
      <p:pic>
        <p:nvPicPr>
          <p:cNvPr id="2" name="Picture 1"/>
          <p:cNvPicPr>
            <a:picLocks noChangeAspect="1"/>
          </p:cNvPicPr>
          <p:nvPr/>
        </p:nvPicPr>
        <p:blipFill>
          <a:blip r:embed="rId1"/>
          <a:stretch>
            <a:fillRect/>
          </a:stretch>
        </p:blipFill>
        <p:spPr>
          <a:xfrm>
            <a:off x="297815" y="763929"/>
            <a:ext cx="11711305" cy="58838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40425" y="363125"/>
            <a:ext cx="8911687" cy="1280890"/>
          </a:xfrm>
        </p:spPr>
        <p:txBody>
          <a:bodyPr/>
          <a:p>
            <a:r>
              <a:rPr lang="en-IN" altLang="en-US" sz="4000" b="1">
                <a:solidFill>
                  <a:schemeClr val="tx1">
                    <a:lumMod val="85000"/>
                    <a:lumOff val="15000"/>
                  </a:schemeClr>
                </a:solidFill>
                <a:uFillTx/>
              </a:rPr>
              <a:t>INSIGHTS FROM THE PROJECT</a:t>
            </a:r>
            <a:endParaRPr lang="en-IN" altLang="en-US" sz="4000" b="1">
              <a:solidFill>
                <a:schemeClr val="tx1">
                  <a:lumMod val="85000"/>
                  <a:lumOff val="15000"/>
                </a:schemeClr>
              </a:solidFill>
              <a:uFillTx/>
            </a:endParaRPr>
          </a:p>
        </p:txBody>
      </p:sp>
      <p:sp>
        <p:nvSpPr>
          <p:cNvPr id="3" name="Content Placeholder 2"/>
          <p:cNvSpPr>
            <a:spLocks noGrp="1"/>
          </p:cNvSpPr>
          <p:nvPr>
            <p:ph idx="1"/>
          </p:nvPr>
        </p:nvSpPr>
        <p:spPr>
          <a:xfrm>
            <a:off x="2010410" y="1539875"/>
            <a:ext cx="8915400" cy="4906010"/>
          </a:xfrm>
        </p:spPr>
        <p:txBody>
          <a:bodyPr>
            <a:noAutofit/>
          </a:bodyPr>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1.</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City-Level Insights</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  </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Top Performing City: Mumbai — highest revenue (~₹669M) and highest Average Daily Rate (ADR ₹15,387).</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  </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Second: Bangalore — strong ADR (₹13,131).</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  </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Lowest Performing City: Delhi — lowest total revenue (~₹295M).</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  </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Mumbai and Bangalore are strong business hubs; Delhi might require marketing or pricing adjustments.</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  </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Revenue &amp; Room Insigh</a:t>
            </a: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T</a:t>
            </a:r>
            <a:endPar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2. </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Elite &amp; Premium Rooms: Drive maximum revenue.</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Upselling premium rooms or improving mid-tier options could boost revenue further.</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Revenue Distribution: Weekday revenue ₹1070M vs Weekend ₹639M — again confirming business focus.Booking Channel Insights</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a:p>
            <a:pPr marL="0" indent="0">
              <a:buNone/>
            </a:pPr>
            <a:r>
              <a:rPr lang="en-IN" altLang="en-US" sz="1700" b="1">
                <a:solidFill>
                  <a:schemeClr val="tx1">
                    <a:lumMod val="75000"/>
                    <a:lumOff val="25000"/>
                  </a:schemeClr>
                </a:solidFill>
                <a:uFillTx/>
                <a:latin typeface="Bahnschrift" panose="020B0502040204020203" pitchFamily="34" charset="0"/>
                <a:cs typeface="Bahnschrift" panose="020B0502040204020203" pitchFamily="34" charset="0"/>
              </a:rPr>
              <a:t>3. </a:t>
            </a:r>
            <a:r>
              <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rPr>
              <a:t>Major Booking Platforms: “MakeMyTrip” and “Others” dominate. Partnership analysis could identify most profitable channels and optimize commission rates.</a:t>
            </a:r>
            <a:endParaRPr lang="en-US" altLang="en-US" sz="1700" b="1">
              <a:solidFill>
                <a:schemeClr val="tx1">
                  <a:lumMod val="75000"/>
                  <a:lumOff val="25000"/>
                </a:schemeClr>
              </a:solidFill>
              <a:uFillTx/>
              <a:latin typeface="Bahnschrift" panose="020B0502040204020203" pitchFamily="34" charset="0"/>
              <a:cs typeface="Bahnschrift" panose="020B0502040204020203"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endParaRPr lang="en-US" b="1" dirty="0"/>
          </a:p>
        </p:txBody>
      </p:sp>
      <p:sp>
        <p:nvSpPr>
          <p:cNvPr id="3" name="Content Placeholder 2"/>
          <p:cNvSpPr>
            <a:spLocks noGrp="1"/>
          </p:cNvSpPr>
          <p:nvPr>
            <p:ph idx="1"/>
          </p:nvPr>
        </p:nvSpPr>
        <p:spPr>
          <a:xfrm>
            <a:off x="2390660" y="1712259"/>
            <a:ext cx="9113952" cy="4521631"/>
          </a:xfrm>
        </p:spPr>
        <p:txBody>
          <a:bodyPr>
            <a:normAutofit/>
          </a:bodyPr>
          <a:lstStyle/>
          <a:p>
            <a:r>
              <a:rPr lang="en-US" dirty="0">
                <a:latin typeface="Bahnschrift" panose="020B0502040204020203" pitchFamily="34" charset="0"/>
              </a:rPr>
              <a:t>The hospitality project has provided valuable insights into how data-driven tools like </a:t>
            </a:r>
            <a:r>
              <a:rPr lang="en-US" b="1" dirty="0">
                <a:latin typeface="Bahnschrift" panose="020B0502040204020203" pitchFamily="34" charset="0"/>
              </a:rPr>
              <a:t>Power BI, Tableau, Excel, and MySQL</a:t>
            </a:r>
            <a:r>
              <a:rPr lang="en-US" dirty="0">
                <a:latin typeface="Bahnschrift" panose="020B0502040204020203" pitchFamily="34" charset="0"/>
              </a:rPr>
              <a:t> can significantly enhance operational efficiency, guest satisfaction, and decision-making processes within the hospitality industry.</a:t>
            </a:r>
            <a:endParaRPr lang="en-US" dirty="0">
              <a:latin typeface="Bahnschrift" panose="020B0502040204020203" pitchFamily="34" charset="0"/>
            </a:endParaRPr>
          </a:p>
          <a:p>
            <a:r>
              <a:rPr lang="en-US" dirty="0">
                <a:latin typeface="Bahnschrift" panose="020B0502040204020203" pitchFamily="34" charset="0"/>
              </a:rPr>
              <a:t>By designing and implementing interactive dashboards, we successfully integrated multiple data sources to track key performance indicators (KPIs) such as occupancy rates, revenue, customer feedback, and operational costs. This not only improved transparency and reporting accuracy but also empowered management to make informed, strategic decisions in real-time</a:t>
            </a:r>
            <a:endParaRPr lang="en-US" dirty="0">
              <a:latin typeface="Bahnschrift" panose="020B0502040204020203" pitchFamily="34" charset="0"/>
            </a:endParaRPr>
          </a:p>
          <a:p>
            <a:r>
              <a:rPr lang="en-US" dirty="0">
                <a:latin typeface="Bahnschrift" panose="020B0502040204020203" pitchFamily="34" charset="0"/>
              </a:rPr>
              <a:t>In conclusion, this project reinforces that technology and data intelligence are essential for delivering exceptional guest experiences and achieving operational excellence in today’s hospitality landscape.</a:t>
            </a:r>
            <a:endParaRPr lang="en-US" dirty="0">
              <a:latin typeface="Bahnschrift" panose="020B0502040204020203" pitchFamily="34" charset="0"/>
            </a:endParaRP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93196" y="2445745"/>
            <a:ext cx="6885542" cy="1323439"/>
          </a:xfrm>
          <a:prstGeom prst="rect">
            <a:avLst/>
          </a:prstGeom>
          <a:noFill/>
        </p:spPr>
        <p:txBody>
          <a:bodyPr wrap="square" rtlCol="0">
            <a:spAutoFit/>
          </a:bodyPr>
          <a:lstStyle/>
          <a:p>
            <a:r>
              <a:rPr lang="en-US" sz="8000" b="1" dirty="0">
                <a:latin typeface="Book Antiqua" panose="02040602050305030304" pitchFamily="18" charset="0"/>
              </a:rPr>
              <a:t>Thank you</a:t>
            </a:r>
            <a:endParaRPr lang="en-US" sz="8000" b="1" dirty="0">
              <a:latin typeface="Book Antiqua" panose="02040602050305030304" pitchFamily="18" charset="0"/>
            </a:endParaRPr>
          </a:p>
        </p:txBody>
      </p:sp>
    </p:spTree>
  </p:cSld>
  <p:clrMapOvr>
    <a:masterClrMapping/>
  </p:clrMapOvr>
</p:sld>
</file>

<file path=ppt/tags/tag1.xml><?xml version="1.0" encoding="utf-8"?>
<p:tagLst xmlns:p="http://schemas.openxmlformats.org/presentationml/2006/main">
  <p:tag name="TABLE_ENDDRAG_ORIGIN_RECT" val="671*261"/>
  <p:tag name="TABLE_ENDDRAG_RECT" val="144*140*671*261"/>
</p:tagLst>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6306</Words>
  <Application>WPS Presentation</Application>
  <PresentationFormat>Widescreen</PresentationFormat>
  <Paragraphs>185</Paragraphs>
  <Slides>17</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Wingdings 3</vt:lpstr>
      <vt:lpstr>Arial</vt:lpstr>
      <vt:lpstr>Bahnschrift</vt:lpstr>
      <vt:lpstr>Calibri</vt:lpstr>
      <vt:lpstr>Book Antiqua</vt:lpstr>
      <vt:lpstr>Century Gothic</vt:lpstr>
      <vt:lpstr>Microsoft YaHei</vt:lpstr>
      <vt:lpstr>Arial Unicode MS</vt:lpstr>
      <vt:lpstr>Bahnschrift Light</vt:lpstr>
      <vt:lpstr>Bauhaus 93</vt:lpstr>
      <vt:lpstr>Wisp</vt:lpstr>
      <vt:lpstr>Hospitality Analytics          Project</vt:lpstr>
      <vt:lpstr>Introduction</vt:lpstr>
      <vt:lpstr>Project Overview </vt:lpstr>
      <vt:lpstr>Objectives</vt:lpstr>
      <vt:lpstr>Tool’s Used</vt:lpstr>
      <vt:lpstr>Challenges </vt:lpstr>
      <vt:lpstr>Solutions</vt:lpstr>
      <vt:lpstr>KPI CARDS </vt:lpstr>
      <vt:lpstr>PowerPoint 演示文稿</vt:lpstr>
      <vt:lpstr>Excel Dashboard</vt:lpstr>
      <vt:lpstr>PowerPoint 演示文稿</vt:lpstr>
      <vt:lpstr>PowerPoint 演示文稿</vt:lpstr>
      <vt:lpstr>PowerPoint 演示文稿</vt:lpstr>
      <vt:lpstr>PowerPoint 演示文稿</vt:lpstr>
      <vt:lpstr>PowerPoint 演示文稿</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Hospitality Project Presentation</dc:title>
  <dc:creator>Srushti Kulkarni</dc:creator>
  <cp:lastModifiedBy>shazmeen fathima</cp:lastModifiedBy>
  <cp:revision>16</cp:revision>
  <dcterms:created xsi:type="dcterms:W3CDTF">2025-09-29T16:33:00Z</dcterms:created>
  <dcterms:modified xsi:type="dcterms:W3CDTF">2025-11-06T15:02:09Z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6220E41ABC844E7B9166C380C16D032E_13</vt:lpwstr>
  </property>
  <property fmtid="{D5CDD505-2E9C-101B-9397-08002B2CF9AE}" pid="3" name="KSOProductBuildVer">
    <vt:lpwstr>1033-12.2.0.23155</vt:lpwstr>
  </property>
</Properties>
</file>